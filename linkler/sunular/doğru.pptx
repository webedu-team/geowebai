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70" r:id="rId3"/>
    <p:sldId id="271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20529C-686B-4AB9-BA6B-6ABE45B8BE40}" type="datetimeFigureOut">
              <a:rPr lang="tr-TR" smtClean="0"/>
              <a:t>11.04.2022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0ED1B7-1FA1-4F1A-BE7F-8A499B40B3D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42882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/>
              <a:t>www.Egitimhane.Com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0ED1B7-1FA1-4F1A-BE7F-8A499B40B3DC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49213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11.04.2022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11.04.2022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11.04.2022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11.04.2022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11.04.2022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11.04.2022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11.04.2022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11.04.2022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11.04.2022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11.04.2022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11.04.2022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 Yer Tutucusu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75050-0E15-4C5B-92B0-66D068882F1F}" type="datetimeFigureOut">
              <a:rPr lang="tr-TR" smtClean="0"/>
              <a:pPr/>
              <a:t>11.04.2022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gif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dörtgen"/>
          <p:cNvSpPr/>
          <p:nvPr/>
        </p:nvSpPr>
        <p:spPr>
          <a:xfrm>
            <a:off x="500034" y="214290"/>
            <a:ext cx="842968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8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NOKTA,DOĞRU ,</a:t>
            </a:r>
          </a:p>
          <a:p>
            <a:pPr algn="ctr"/>
            <a:r>
              <a:rPr lang="tr-TR" sz="8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IŞIN VE </a:t>
            </a:r>
          </a:p>
          <a:p>
            <a:r>
              <a:rPr lang="tr-TR" sz="8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DOĞRU PARÇASI</a:t>
            </a:r>
            <a:endParaRPr lang="tr-TR" sz="8000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itchFamily="34" charset="0"/>
            </a:endParaRPr>
          </a:p>
        </p:txBody>
      </p:sp>
      <p:pic>
        <p:nvPicPr>
          <p:cNvPr id="6146" name="Picture 2" descr="hareketli çizgi gifler ile ilgili görsel sonucu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10" y="3857628"/>
            <a:ext cx="2095252" cy="2428892"/>
          </a:xfrm>
          <a:prstGeom prst="rect">
            <a:avLst/>
          </a:prstGeom>
          <a:noFill/>
        </p:spPr>
      </p:pic>
      <p:pic>
        <p:nvPicPr>
          <p:cNvPr id="6148" name="Picture 4" descr="İlgili resim"/>
          <p:cNvPicPr>
            <a:picLocks noChangeAspect="1" noChangeArrowheads="1" noCrop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00628" y="3786190"/>
            <a:ext cx="2500330" cy="272013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dörtgen"/>
          <p:cNvSpPr/>
          <p:nvPr/>
        </p:nvSpPr>
        <p:spPr>
          <a:xfrm>
            <a:off x="500034" y="142852"/>
            <a:ext cx="3286477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72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NOKTA</a:t>
            </a:r>
            <a:endParaRPr lang="tr-TR" sz="7200" dirty="0"/>
          </a:p>
        </p:txBody>
      </p:sp>
      <p:pic>
        <p:nvPicPr>
          <p:cNvPr id="27652" name="Picture 4" descr="ÇİZGİ KALEM ile ilgili görsel sonucu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4876" y="214290"/>
            <a:ext cx="2585990" cy="3300370"/>
          </a:xfrm>
          <a:prstGeom prst="rect">
            <a:avLst/>
          </a:prstGeom>
          <a:noFill/>
        </p:spPr>
      </p:pic>
      <p:sp>
        <p:nvSpPr>
          <p:cNvPr id="5" name="4 Oval"/>
          <p:cNvSpPr/>
          <p:nvPr/>
        </p:nvSpPr>
        <p:spPr>
          <a:xfrm>
            <a:off x="5072066" y="3357562"/>
            <a:ext cx="428628" cy="50006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5 Dikdörtgen"/>
          <p:cNvSpPr/>
          <p:nvPr/>
        </p:nvSpPr>
        <p:spPr>
          <a:xfrm>
            <a:off x="0" y="3995678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Kalemin defterde veya farklı alanda bıraktığı ize </a:t>
            </a:r>
            <a:r>
              <a:rPr lang="tr-T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nokta</a:t>
            </a:r>
            <a:r>
              <a:rPr lang="tr-T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 denir.</a:t>
            </a:r>
          </a:p>
        </p:txBody>
      </p:sp>
      <p:pic>
        <p:nvPicPr>
          <p:cNvPr id="27654" name="Picture 6" descr="İlgili resim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5" y="1142984"/>
            <a:ext cx="3864145" cy="271464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Oval"/>
          <p:cNvSpPr/>
          <p:nvPr/>
        </p:nvSpPr>
        <p:spPr>
          <a:xfrm>
            <a:off x="1071538" y="3143248"/>
            <a:ext cx="285752" cy="28575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2 Dikdörtgen"/>
          <p:cNvSpPr/>
          <p:nvPr/>
        </p:nvSpPr>
        <p:spPr>
          <a:xfrm>
            <a:off x="1357290" y="2643182"/>
            <a:ext cx="60144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4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A</a:t>
            </a:r>
            <a:endParaRPr lang="tr-TR" sz="4400" dirty="0">
              <a:latin typeface="Century Gothic" pitchFamily="34" charset="0"/>
            </a:endParaRPr>
          </a:p>
        </p:txBody>
      </p:sp>
      <p:sp>
        <p:nvSpPr>
          <p:cNvPr id="4" name="3 Dikdörtgen"/>
          <p:cNvSpPr/>
          <p:nvPr/>
        </p:nvSpPr>
        <p:spPr>
          <a:xfrm>
            <a:off x="357158" y="3571876"/>
            <a:ext cx="27093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4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A</a:t>
            </a:r>
            <a:r>
              <a:rPr lang="tr-TR" sz="4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 noktası</a:t>
            </a:r>
            <a:endParaRPr lang="tr-TR" sz="4400" dirty="0">
              <a:latin typeface="Century Gothic" pitchFamily="34" charset="0"/>
            </a:endParaRPr>
          </a:p>
        </p:txBody>
      </p:sp>
      <p:sp>
        <p:nvSpPr>
          <p:cNvPr id="5" name="4 Oval"/>
          <p:cNvSpPr/>
          <p:nvPr/>
        </p:nvSpPr>
        <p:spPr>
          <a:xfrm>
            <a:off x="5500694" y="1714488"/>
            <a:ext cx="500066" cy="50006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5 Dikdörtgen"/>
          <p:cNvSpPr/>
          <p:nvPr/>
        </p:nvSpPr>
        <p:spPr>
          <a:xfrm>
            <a:off x="6000760" y="1000108"/>
            <a:ext cx="46679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4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Z</a:t>
            </a:r>
            <a:endParaRPr lang="tr-TR" sz="4400" dirty="0">
              <a:latin typeface="Century Gothic" pitchFamily="34" charset="0"/>
            </a:endParaRPr>
          </a:p>
        </p:txBody>
      </p:sp>
      <p:sp>
        <p:nvSpPr>
          <p:cNvPr id="7" name="6 Dikdörtgen"/>
          <p:cNvSpPr/>
          <p:nvPr/>
        </p:nvSpPr>
        <p:spPr>
          <a:xfrm>
            <a:off x="4714876" y="2357430"/>
            <a:ext cx="257474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4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Z</a:t>
            </a:r>
            <a:r>
              <a:rPr lang="tr-TR" sz="4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 noktası</a:t>
            </a:r>
            <a:endParaRPr lang="tr-TR" sz="4400" dirty="0">
              <a:latin typeface="Century Gothic" pitchFamily="34" charset="0"/>
            </a:endParaRPr>
          </a:p>
        </p:txBody>
      </p:sp>
      <p:sp>
        <p:nvSpPr>
          <p:cNvPr id="8" name="7 Dikdörtgen"/>
          <p:cNvSpPr/>
          <p:nvPr/>
        </p:nvSpPr>
        <p:spPr>
          <a:xfrm>
            <a:off x="285720" y="4643446"/>
            <a:ext cx="8643998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6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  <a:sym typeface="Wingdings"/>
              </a:rPr>
              <a:t></a:t>
            </a:r>
            <a:r>
              <a:rPr lang="tr-TR" sz="4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  <a:sym typeface="Wingdings"/>
              </a:rPr>
              <a:t> </a:t>
            </a:r>
            <a:r>
              <a:rPr lang="tr-TR" sz="4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Nokta boyutsuzdur.Yani </a:t>
            </a:r>
            <a:r>
              <a:rPr lang="tr-TR" sz="4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eni</a:t>
            </a:r>
            <a:r>
              <a:rPr lang="tr-TR" sz="4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,</a:t>
            </a:r>
          </a:p>
          <a:p>
            <a:r>
              <a:rPr lang="tr-TR" sz="4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boyu</a:t>
            </a:r>
            <a:r>
              <a:rPr lang="tr-TR" sz="4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 ve </a:t>
            </a:r>
            <a:r>
              <a:rPr lang="tr-TR" sz="4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yüksekliği</a:t>
            </a:r>
            <a:r>
              <a:rPr lang="tr-TR" sz="4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 yoktur.</a:t>
            </a:r>
            <a:endParaRPr lang="tr-TR" sz="4400" dirty="0">
              <a:latin typeface="Century Gothi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 animBg="1"/>
      <p:bldP spid="6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dörtgen"/>
          <p:cNvSpPr/>
          <p:nvPr/>
        </p:nvSpPr>
        <p:spPr>
          <a:xfrm>
            <a:off x="2571736" y="214290"/>
            <a:ext cx="461857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72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DOĞRU</a:t>
            </a:r>
            <a:endParaRPr lang="tr-TR" sz="7200" dirty="0"/>
          </a:p>
        </p:txBody>
      </p:sp>
      <p:sp>
        <p:nvSpPr>
          <p:cNvPr id="4" name="3 Sol Sağ Ok"/>
          <p:cNvSpPr/>
          <p:nvPr/>
        </p:nvSpPr>
        <p:spPr>
          <a:xfrm>
            <a:off x="1071538" y="1214422"/>
            <a:ext cx="7215238" cy="64294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4 Dikdörtgen"/>
          <p:cNvSpPr/>
          <p:nvPr/>
        </p:nvSpPr>
        <p:spPr>
          <a:xfrm>
            <a:off x="214282" y="2071678"/>
            <a:ext cx="892971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72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  <a:sym typeface="Wingdings"/>
              </a:rPr>
              <a:t></a:t>
            </a:r>
            <a:r>
              <a:rPr lang="tr-TR" sz="6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İki ucu da sınırsız noktalar bütününe</a:t>
            </a:r>
          </a:p>
          <a:p>
            <a:r>
              <a:rPr lang="tr-TR" sz="6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doğru</a:t>
            </a:r>
            <a:r>
              <a:rPr lang="tr-TR" sz="6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 denir.</a:t>
            </a:r>
          </a:p>
        </p:txBody>
      </p:sp>
      <p:pic>
        <p:nvPicPr>
          <p:cNvPr id="5122" name="Picture 2" descr="hareketli çizgi gifler ile ilgili görsel sonucu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16" y="2882376"/>
            <a:ext cx="2285984" cy="397562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dörtgen"/>
          <p:cNvSpPr/>
          <p:nvPr/>
        </p:nvSpPr>
        <p:spPr>
          <a:xfrm>
            <a:off x="0" y="2928934"/>
            <a:ext cx="921550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6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  <a:sym typeface="Wingdings"/>
              </a:rPr>
              <a:t></a:t>
            </a:r>
            <a:r>
              <a:rPr lang="tr-TR" sz="6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Doğrular; </a:t>
            </a:r>
          </a:p>
          <a:p>
            <a:r>
              <a:rPr lang="tr-TR" sz="6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a, b, c, d, e </a:t>
            </a:r>
            <a:r>
              <a:rPr lang="tr-TR" sz="6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gibi </a:t>
            </a:r>
          </a:p>
          <a:p>
            <a:r>
              <a:rPr lang="tr-TR" sz="6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küçük harflerle </a:t>
            </a:r>
            <a:r>
              <a:rPr lang="tr-TR" sz="6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gösterilir.</a:t>
            </a:r>
          </a:p>
        </p:txBody>
      </p:sp>
      <p:sp>
        <p:nvSpPr>
          <p:cNvPr id="3" name="2 Sol Sağ Ok"/>
          <p:cNvSpPr/>
          <p:nvPr/>
        </p:nvSpPr>
        <p:spPr>
          <a:xfrm rot="2256457">
            <a:off x="1937429" y="1742796"/>
            <a:ext cx="5930665" cy="642942"/>
          </a:xfrm>
          <a:prstGeom prst="left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3 Dikdörtgen"/>
          <p:cNvSpPr/>
          <p:nvPr/>
        </p:nvSpPr>
        <p:spPr>
          <a:xfrm>
            <a:off x="4500562" y="1071546"/>
            <a:ext cx="20938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36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tr-TR" sz="3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doğrusu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dörtgen"/>
          <p:cNvSpPr/>
          <p:nvPr/>
        </p:nvSpPr>
        <p:spPr>
          <a:xfrm>
            <a:off x="1214414" y="4643446"/>
            <a:ext cx="7544053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Font typeface="Wingdings"/>
              <a:buChar char="@"/>
            </a:pPr>
            <a:r>
              <a:rPr lang="tr-TR" sz="6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  <a:sym typeface="Wingdings"/>
              </a:rPr>
              <a:t>‘’</a:t>
            </a:r>
            <a:r>
              <a:rPr lang="tr-TR" sz="6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a doğrusu’’ </a:t>
            </a:r>
            <a:r>
              <a:rPr lang="tr-TR" sz="6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diye </a:t>
            </a:r>
          </a:p>
          <a:p>
            <a:pPr algn="ctr"/>
            <a:r>
              <a:rPr lang="tr-TR" sz="6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okunur</a:t>
            </a:r>
            <a:r>
              <a:rPr lang="tr-TR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.</a:t>
            </a:r>
          </a:p>
        </p:txBody>
      </p:sp>
      <p:sp>
        <p:nvSpPr>
          <p:cNvPr id="3" name="2 Sol Sağ Ok"/>
          <p:cNvSpPr/>
          <p:nvPr/>
        </p:nvSpPr>
        <p:spPr>
          <a:xfrm rot="19567834">
            <a:off x="46979" y="2116334"/>
            <a:ext cx="8501090" cy="449826"/>
          </a:xfrm>
          <a:prstGeom prst="left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3 Dikdörtgen"/>
          <p:cNvSpPr/>
          <p:nvPr/>
        </p:nvSpPr>
        <p:spPr>
          <a:xfrm>
            <a:off x="4929190" y="1857364"/>
            <a:ext cx="694421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6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tr-TR" sz="3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4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dörtgen"/>
          <p:cNvSpPr/>
          <p:nvPr/>
        </p:nvSpPr>
        <p:spPr>
          <a:xfrm>
            <a:off x="714348" y="357166"/>
            <a:ext cx="7824578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/>
              <a:buChar char="@"/>
            </a:pPr>
            <a:r>
              <a:rPr lang="tr-TR" sz="6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Doğruların </a:t>
            </a:r>
            <a:r>
              <a:rPr lang="tr-TR" sz="6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başı</a:t>
            </a:r>
            <a:r>
              <a:rPr lang="tr-TR" sz="6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 ve </a:t>
            </a:r>
          </a:p>
          <a:p>
            <a:r>
              <a:rPr lang="tr-TR" sz="6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sonu</a:t>
            </a:r>
            <a:r>
              <a:rPr lang="tr-TR" sz="6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 yoktur.</a:t>
            </a:r>
          </a:p>
        </p:txBody>
      </p:sp>
      <p:sp>
        <p:nvSpPr>
          <p:cNvPr id="3" name="2 Sol Sağ Ok"/>
          <p:cNvSpPr/>
          <p:nvPr/>
        </p:nvSpPr>
        <p:spPr>
          <a:xfrm rot="16200000">
            <a:off x="3786182" y="3929066"/>
            <a:ext cx="4572032" cy="428628"/>
          </a:xfrm>
          <a:prstGeom prst="left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3 Dikdörtgen"/>
          <p:cNvSpPr/>
          <p:nvPr/>
        </p:nvSpPr>
        <p:spPr>
          <a:xfrm>
            <a:off x="6215074" y="3071810"/>
            <a:ext cx="428322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6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</a:t>
            </a:r>
            <a:endParaRPr lang="tr-TR" sz="60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50" name="Picture 2" descr="İlgili resim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714620"/>
            <a:ext cx="4572032" cy="377192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4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atematikdoğru modelleri ile ilgili görsel sonucu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353579"/>
            <a:ext cx="2571768" cy="2218165"/>
          </a:xfrm>
          <a:prstGeom prst="rect">
            <a:avLst/>
          </a:prstGeom>
          <a:noFill/>
        </p:spPr>
      </p:pic>
      <p:pic>
        <p:nvPicPr>
          <p:cNvPr id="1030" name="Picture 6" descr="İlgili res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868" y="1142984"/>
            <a:ext cx="5362575" cy="847725"/>
          </a:xfrm>
          <a:prstGeom prst="rect">
            <a:avLst/>
          </a:prstGeom>
          <a:noFill/>
        </p:spPr>
      </p:pic>
      <p:pic>
        <p:nvPicPr>
          <p:cNvPr id="1032" name="Picture 8" descr="yol ile ilgili görsel sonucu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857620" y="3357562"/>
            <a:ext cx="4762500" cy="2143125"/>
          </a:xfrm>
          <a:prstGeom prst="rect">
            <a:avLst/>
          </a:prstGeom>
          <a:noFill/>
        </p:spPr>
      </p:pic>
      <p:pic>
        <p:nvPicPr>
          <p:cNvPr id="1034" name="Picture 10" descr="İlgili resim"/>
          <p:cNvPicPr>
            <a:picLocks noChangeAspect="1" noChangeArrowheads="1" noCrop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-285784" y="2643158"/>
            <a:ext cx="4214842" cy="421484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dörtgen"/>
          <p:cNvSpPr/>
          <p:nvPr/>
        </p:nvSpPr>
        <p:spPr>
          <a:xfrm>
            <a:off x="928662" y="0"/>
            <a:ext cx="764504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tr-TR" sz="72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DOĞRU PARÇASI</a:t>
            </a:r>
            <a:endParaRPr lang="tr-TR" sz="7200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itchFamily="34" charset="0"/>
            </a:endParaRPr>
          </a:p>
        </p:txBody>
      </p:sp>
      <p:sp>
        <p:nvSpPr>
          <p:cNvPr id="3" name="2 Dikdörtgen"/>
          <p:cNvSpPr/>
          <p:nvPr/>
        </p:nvSpPr>
        <p:spPr>
          <a:xfrm>
            <a:off x="214282" y="1071546"/>
            <a:ext cx="892971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6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  <a:sym typeface="Wingdings"/>
              </a:rPr>
              <a:t> </a:t>
            </a:r>
            <a:r>
              <a:rPr lang="tr-TR" sz="6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İki ucu da sınırlı noktalar bütününe </a:t>
            </a:r>
            <a:r>
              <a:rPr lang="tr-TR" sz="6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doğru parçası </a:t>
            </a:r>
            <a:r>
              <a:rPr lang="tr-TR" sz="6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denir.</a:t>
            </a:r>
          </a:p>
        </p:txBody>
      </p:sp>
      <p:sp>
        <p:nvSpPr>
          <p:cNvPr id="4" name="3 Dikdörtgen"/>
          <p:cNvSpPr/>
          <p:nvPr/>
        </p:nvSpPr>
        <p:spPr>
          <a:xfrm>
            <a:off x="1928794" y="4000504"/>
            <a:ext cx="5715040" cy="21431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4 Dikdörtgen"/>
          <p:cNvSpPr/>
          <p:nvPr/>
        </p:nvSpPr>
        <p:spPr>
          <a:xfrm rot="19237392">
            <a:off x="102464" y="5251362"/>
            <a:ext cx="2643206" cy="14287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5 Dikdörtgen"/>
          <p:cNvSpPr/>
          <p:nvPr/>
        </p:nvSpPr>
        <p:spPr>
          <a:xfrm>
            <a:off x="8286776" y="2428868"/>
            <a:ext cx="214314" cy="400052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22530" name="Picture 2" descr="İlgili resim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14612" y="4357694"/>
            <a:ext cx="4143403" cy="250030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dörtgen"/>
          <p:cNvSpPr/>
          <p:nvPr/>
        </p:nvSpPr>
        <p:spPr>
          <a:xfrm>
            <a:off x="357158" y="3105835"/>
            <a:ext cx="857256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6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  <a:sym typeface="Wingdings"/>
              </a:rPr>
              <a:t> </a:t>
            </a:r>
            <a:r>
              <a:rPr lang="tr-T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Doğru parçaları iki ucuna konulan</a:t>
            </a:r>
            <a:r>
              <a:rPr lang="tr-T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 iki</a:t>
            </a:r>
          </a:p>
          <a:p>
            <a:r>
              <a:rPr lang="tr-T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büyük harfle </a:t>
            </a:r>
            <a:r>
              <a:rPr lang="tr-T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gösterilir.</a:t>
            </a:r>
          </a:p>
        </p:txBody>
      </p:sp>
      <p:sp>
        <p:nvSpPr>
          <p:cNvPr id="3" name="2 Dikdörtgen"/>
          <p:cNvSpPr/>
          <p:nvPr/>
        </p:nvSpPr>
        <p:spPr>
          <a:xfrm>
            <a:off x="1000100" y="1142984"/>
            <a:ext cx="4214842" cy="2143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4 Dikdörtgen"/>
          <p:cNvSpPr/>
          <p:nvPr/>
        </p:nvSpPr>
        <p:spPr>
          <a:xfrm>
            <a:off x="1000100" y="357166"/>
            <a:ext cx="60144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4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A</a:t>
            </a:r>
            <a:endParaRPr lang="tr-TR" sz="4400" dirty="0">
              <a:latin typeface="Century Gothic" pitchFamily="34" charset="0"/>
            </a:endParaRPr>
          </a:p>
        </p:txBody>
      </p:sp>
      <p:sp>
        <p:nvSpPr>
          <p:cNvPr id="6" name="5 Dikdörtgen"/>
          <p:cNvSpPr/>
          <p:nvPr/>
        </p:nvSpPr>
        <p:spPr>
          <a:xfrm>
            <a:off x="4643438" y="357166"/>
            <a:ext cx="51167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4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B</a:t>
            </a:r>
            <a:endParaRPr lang="tr-TR" sz="4400" dirty="0">
              <a:latin typeface="Century Gothic" pitchFamily="34" charset="0"/>
            </a:endParaRPr>
          </a:p>
        </p:txBody>
      </p:sp>
      <p:sp>
        <p:nvSpPr>
          <p:cNvPr id="7" name="6 Dikdörtgen"/>
          <p:cNvSpPr/>
          <p:nvPr/>
        </p:nvSpPr>
        <p:spPr>
          <a:xfrm rot="19511152">
            <a:off x="5473271" y="1686933"/>
            <a:ext cx="2928958" cy="7143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7 Dikdörtgen"/>
          <p:cNvSpPr/>
          <p:nvPr/>
        </p:nvSpPr>
        <p:spPr>
          <a:xfrm rot="19180111">
            <a:off x="5430726" y="1814151"/>
            <a:ext cx="54534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36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C</a:t>
            </a:r>
            <a:endParaRPr lang="tr-TR" sz="3600" dirty="0">
              <a:latin typeface="Century Gothic" pitchFamily="34" charset="0"/>
            </a:endParaRPr>
          </a:p>
        </p:txBody>
      </p:sp>
      <p:sp>
        <p:nvSpPr>
          <p:cNvPr id="9" name="8 Dikdörtgen"/>
          <p:cNvSpPr/>
          <p:nvPr/>
        </p:nvSpPr>
        <p:spPr>
          <a:xfrm rot="19427269">
            <a:off x="7499892" y="444940"/>
            <a:ext cx="5084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36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D</a:t>
            </a:r>
            <a:endParaRPr lang="tr-TR" sz="3600" dirty="0">
              <a:latin typeface="Century Gothic" pitchFamily="34" charset="0"/>
            </a:endParaRPr>
          </a:p>
        </p:txBody>
      </p:sp>
      <p:sp>
        <p:nvSpPr>
          <p:cNvPr id="10" name="9 Dikdörtgen"/>
          <p:cNvSpPr/>
          <p:nvPr/>
        </p:nvSpPr>
        <p:spPr>
          <a:xfrm>
            <a:off x="1357290" y="1500174"/>
            <a:ext cx="31967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AB</a:t>
            </a:r>
            <a:r>
              <a:rPr lang="tr-TR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 doğru parçası</a:t>
            </a:r>
            <a:endParaRPr lang="tr-TR" sz="2800" dirty="0">
              <a:latin typeface="Century Gothic" pitchFamily="34" charset="0"/>
            </a:endParaRPr>
          </a:p>
        </p:txBody>
      </p:sp>
      <p:sp>
        <p:nvSpPr>
          <p:cNvPr id="11" name="10 Dikdörtgen"/>
          <p:cNvSpPr/>
          <p:nvPr/>
        </p:nvSpPr>
        <p:spPr>
          <a:xfrm rot="19432977">
            <a:off x="5525318" y="1740237"/>
            <a:ext cx="32544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CD</a:t>
            </a:r>
            <a:r>
              <a:rPr lang="tr-TR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 doğru parçası</a:t>
            </a:r>
            <a:endParaRPr lang="tr-TR" sz="2800" dirty="0">
              <a:latin typeface="Century Gothi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8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6" grpId="0"/>
      <p:bldP spid="7" grpId="0" animBg="1"/>
      <p:bldP spid="8" grpId="0"/>
      <p:bldP spid="9" grpId="0"/>
      <p:bldP spid="10" grpId="0"/>
      <p:bldP spid="10" grpId="1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dörtgen"/>
          <p:cNvSpPr/>
          <p:nvPr/>
        </p:nvSpPr>
        <p:spPr>
          <a:xfrm>
            <a:off x="357158" y="214290"/>
            <a:ext cx="838193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6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  <a:sym typeface="Wingdings"/>
              </a:rPr>
              <a:t> </a:t>
            </a:r>
            <a:r>
              <a:rPr lang="tr-T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Doğru parçalarının </a:t>
            </a:r>
            <a:r>
              <a:rPr lang="tr-T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başı</a:t>
            </a:r>
            <a:r>
              <a:rPr lang="tr-T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 ve </a:t>
            </a:r>
            <a:r>
              <a:rPr lang="tr-T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sonu</a:t>
            </a:r>
            <a:r>
              <a:rPr lang="tr-T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 bellidir</a:t>
            </a:r>
            <a:r>
              <a:rPr lang="tr-T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  <p:sp>
        <p:nvSpPr>
          <p:cNvPr id="3" name="2 Dikdörtgen"/>
          <p:cNvSpPr/>
          <p:nvPr/>
        </p:nvSpPr>
        <p:spPr>
          <a:xfrm>
            <a:off x="857224" y="2786058"/>
            <a:ext cx="7000924" cy="2857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3 Dikdörtgen"/>
          <p:cNvSpPr/>
          <p:nvPr/>
        </p:nvSpPr>
        <p:spPr>
          <a:xfrm>
            <a:off x="857224" y="2000240"/>
            <a:ext cx="53412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4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K</a:t>
            </a:r>
            <a:endParaRPr lang="tr-TR" sz="4400" dirty="0">
              <a:latin typeface="Century Gothic" pitchFamily="34" charset="0"/>
            </a:endParaRPr>
          </a:p>
        </p:txBody>
      </p:sp>
      <p:sp>
        <p:nvSpPr>
          <p:cNvPr id="5" name="4 Dikdörtgen"/>
          <p:cNvSpPr/>
          <p:nvPr/>
        </p:nvSpPr>
        <p:spPr>
          <a:xfrm>
            <a:off x="7429520" y="2000240"/>
            <a:ext cx="43313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4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L</a:t>
            </a:r>
            <a:endParaRPr lang="tr-TR" sz="4400" dirty="0">
              <a:latin typeface="Century Gothic" pitchFamily="34" charset="0"/>
            </a:endParaRPr>
          </a:p>
        </p:txBody>
      </p:sp>
      <p:sp>
        <p:nvSpPr>
          <p:cNvPr id="6" name="5 Dikdörtgen"/>
          <p:cNvSpPr/>
          <p:nvPr/>
        </p:nvSpPr>
        <p:spPr>
          <a:xfrm>
            <a:off x="2000232" y="3071810"/>
            <a:ext cx="476124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4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KL</a:t>
            </a:r>
            <a:r>
              <a:rPr lang="tr-TR" sz="4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 doğru parçası</a:t>
            </a:r>
            <a:endParaRPr lang="tr-TR" sz="4400" dirty="0">
              <a:latin typeface="Century Gothic" pitchFamily="34" charset="0"/>
            </a:endParaRPr>
          </a:p>
        </p:txBody>
      </p:sp>
      <p:sp>
        <p:nvSpPr>
          <p:cNvPr id="7" name="6 Dikdörtgen"/>
          <p:cNvSpPr/>
          <p:nvPr/>
        </p:nvSpPr>
        <p:spPr>
          <a:xfrm>
            <a:off x="357158" y="4214818"/>
            <a:ext cx="3643338" cy="28575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7 Dikdörtgen"/>
          <p:cNvSpPr/>
          <p:nvPr/>
        </p:nvSpPr>
        <p:spPr>
          <a:xfrm>
            <a:off x="3357554" y="4500570"/>
            <a:ext cx="60144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4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N</a:t>
            </a:r>
            <a:endParaRPr lang="tr-TR" sz="4400" dirty="0">
              <a:latin typeface="Century Gothic" pitchFamily="34" charset="0"/>
            </a:endParaRPr>
          </a:p>
        </p:txBody>
      </p:sp>
      <p:sp>
        <p:nvSpPr>
          <p:cNvPr id="9" name="8 Dikdörtgen"/>
          <p:cNvSpPr/>
          <p:nvPr/>
        </p:nvSpPr>
        <p:spPr>
          <a:xfrm>
            <a:off x="285720" y="4500570"/>
            <a:ext cx="69281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4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M</a:t>
            </a:r>
            <a:endParaRPr lang="tr-TR" sz="4400" dirty="0">
              <a:latin typeface="Century Gothic" pitchFamily="34" charset="0"/>
            </a:endParaRPr>
          </a:p>
        </p:txBody>
      </p:sp>
      <p:sp>
        <p:nvSpPr>
          <p:cNvPr id="10" name="9 Dikdörtgen"/>
          <p:cNvSpPr/>
          <p:nvPr/>
        </p:nvSpPr>
        <p:spPr>
          <a:xfrm>
            <a:off x="0" y="5214950"/>
            <a:ext cx="464742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4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MN</a:t>
            </a:r>
            <a:r>
              <a:rPr lang="tr-TR" sz="4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 doğru parçası</a:t>
            </a:r>
            <a:endParaRPr lang="tr-TR" sz="4000" dirty="0">
              <a:latin typeface="Century Gothic" pitchFamily="34" charset="0"/>
            </a:endParaRPr>
          </a:p>
        </p:txBody>
      </p:sp>
      <p:pic>
        <p:nvPicPr>
          <p:cNvPr id="21510" name="Picture 6" descr="hareketli çizgi dinazor gifler ile ilgili görsel sonucu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0" y="3286124"/>
            <a:ext cx="4572000" cy="4572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2" dur="20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/>
      <p:bldP spid="5" grpId="0"/>
      <p:bldP spid="6" grpId="0"/>
      <p:bldP spid="7" grpId="0" animBg="1"/>
      <p:bldP spid="8" grpId="0"/>
      <p:bldP spid="9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AutoShape 2" descr="CETVEL ile ilgili görsel sonucu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sp>
        <p:nvSpPr>
          <p:cNvPr id="20484" name="AutoShape 4" descr="CETVEL ile ilgili görsel sonucu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sp>
        <p:nvSpPr>
          <p:cNvPr id="20486" name="AutoShape 6" descr="CETVEL ile ilgili görsel sonucu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sp>
        <p:nvSpPr>
          <p:cNvPr id="20488" name="AutoShape 8" descr="CETVEL ile ilgili görsel sonucu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sp>
        <p:nvSpPr>
          <p:cNvPr id="20490" name="AutoShape 10" descr="CETVEL ile ilgili görsel sonucu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sp>
        <p:nvSpPr>
          <p:cNvPr id="20496" name="AutoShape 16" descr="ÇİZGİ CETVEL ile ilgili görsel sonucu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sp>
        <p:nvSpPr>
          <p:cNvPr id="20498" name="AutoShape 18" descr="ÇİZGİ CETVEL ile ilgili görsel sonucu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pic>
        <p:nvPicPr>
          <p:cNvPr id="20500" name="Picture 20" descr="ÇİZGİ CETVEL ile ilgili görsel sonucu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14290"/>
            <a:ext cx="3143272" cy="3571900"/>
          </a:xfrm>
          <a:prstGeom prst="rect">
            <a:avLst/>
          </a:prstGeom>
          <a:noFill/>
        </p:spPr>
      </p:pic>
      <p:sp>
        <p:nvSpPr>
          <p:cNvPr id="20502" name="AutoShape 22" descr="ÇİZGİ CETVEL ile ilgili görsel sonucu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sp>
        <p:nvSpPr>
          <p:cNvPr id="20504" name="AutoShape 24" descr="ÇİZGİ CETVEL ile ilgili görsel sonucu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sp>
        <p:nvSpPr>
          <p:cNvPr id="20506" name="AutoShape 26" descr="ÇİZGİ CETVEL ile ilgili görsel sonucu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sp>
        <p:nvSpPr>
          <p:cNvPr id="20508" name="AutoShape 28" descr="İlgili resi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sp>
        <p:nvSpPr>
          <p:cNvPr id="20510" name="AutoShape 30" descr="Yakacak Odun, Ağaç, Gövde, Ağaç Gövdeleri, Ahşap, Yığı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sp>
        <p:nvSpPr>
          <p:cNvPr id="20512" name="AutoShape 32" descr="Yakacak Odun, Ağaç, Gövde, Ağaç Gövdeleri, Ahşap, Yığı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sp>
        <p:nvSpPr>
          <p:cNvPr id="20514" name="AutoShape 34" descr="Yakacak Odun, Ağaç, Gövde, Ağaç Gövdeleri, Ahşap, Yığı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sp>
        <p:nvSpPr>
          <p:cNvPr id="20516" name="AutoShape 36" descr="Yakacak Odun, Ağaç, Gövde, Ağaç Gövdeleri, Ahşap, Yığı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pic>
        <p:nvPicPr>
          <p:cNvPr id="20518" name="Picture 38" descr="ÇİZGİ ODUN ile ilgili görsel sonucu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00496" y="285728"/>
            <a:ext cx="3214710" cy="3214710"/>
          </a:xfrm>
          <a:prstGeom prst="rect">
            <a:avLst/>
          </a:prstGeom>
          <a:noFill/>
        </p:spPr>
      </p:pic>
      <p:grpSp>
        <p:nvGrpSpPr>
          <p:cNvPr id="20519" name="Group 39"/>
          <p:cNvGrpSpPr>
            <a:grpSpLocks/>
          </p:cNvGrpSpPr>
          <p:nvPr/>
        </p:nvGrpSpPr>
        <p:grpSpPr bwMode="auto">
          <a:xfrm rot="1321162">
            <a:off x="507059" y="4972865"/>
            <a:ext cx="3022600" cy="623887"/>
            <a:chOff x="2222" y="10347"/>
            <a:chExt cx="4758" cy="968"/>
          </a:xfrm>
        </p:grpSpPr>
        <p:sp>
          <p:nvSpPr>
            <p:cNvPr id="20520" name="Rectangle 40"/>
            <p:cNvSpPr>
              <a:spLocks noChangeArrowheads="1"/>
            </p:cNvSpPr>
            <p:nvPr/>
          </p:nvSpPr>
          <p:spPr bwMode="auto">
            <a:xfrm>
              <a:off x="2222" y="10347"/>
              <a:ext cx="4758" cy="96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0521" name="Rectangle 41"/>
            <p:cNvSpPr>
              <a:spLocks noChangeArrowheads="1"/>
            </p:cNvSpPr>
            <p:nvPr/>
          </p:nvSpPr>
          <p:spPr bwMode="auto">
            <a:xfrm>
              <a:off x="2516" y="10708"/>
              <a:ext cx="864" cy="14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0522" name="Rectangle 42"/>
            <p:cNvSpPr>
              <a:spLocks noChangeArrowheads="1"/>
            </p:cNvSpPr>
            <p:nvPr/>
          </p:nvSpPr>
          <p:spPr bwMode="auto">
            <a:xfrm>
              <a:off x="3728" y="10704"/>
              <a:ext cx="864" cy="14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0523" name="Rectangle 43"/>
            <p:cNvSpPr>
              <a:spLocks noChangeArrowheads="1"/>
            </p:cNvSpPr>
            <p:nvPr/>
          </p:nvSpPr>
          <p:spPr bwMode="auto">
            <a:xfrm>
              <a:off x="4939" y="10699"/>
              <a:ext cx="864" cy="14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0524" name="Rectangle 44"/>
            <p:cNvSpPr>
              <a:spLocks noChangeArrowheads="1"/>
            </p:cNvSpPr>
            <p:nvPr/>
          </p:nvSpPr>
          <p:spPr bwMode="auto">
            <a:xfrm>
              <a:off x="6046" y="10736"/>
              <a:ext cx="864" cy="14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</p:grpSp>
      <p:pic>
        <p:nvPicPr>
          <p:cNvPr id="28" name="27 Resim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00298" y="4071942"/>
            <a:ext cx="3000396" cy="57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27" name="AutoShape 47" descr="ÇİZGİ YAYA GEÇİDİ ile ilgili görsel sonucu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pic>
        <p:nvPicPr>
          <p:cNvPr id="20529" name="Picture 49" descr="ÇİZGİ YAYA GEÇİDİ ile ilgili görsel sonucu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572132" y="3857628"/>
            <a:ext cx="3357586" cy="257176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0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0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0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20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dörtgen"/>
          <p:cNvSpPr/>
          <p:nvPr/>
        </p:nvSpPr>
        <p:spPr>
          <a:xfrm>
            <a:off x="3428992" y="0"/>
            <a:ext cx="186461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72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IŞIN</a:t>
            </a:r>
            <a:endParaRPr lang="tr-TR" sz="7200" dirty="0"/>
          </a:p>
        </p:txBody>
      </p:sp>
      <p:sp>
        <p:nvSpPr>
          <p:cNvPr id="3" name="2 Dikdörtgen"/>
          <p:cNvSpPr/>
          <p:nvPr/>
        </p:nvSpPr>
        <p:spPr>
          <a:xfrm>
            <a:off x="214282" y="1071546"/>
            <a:ext cx="892971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6000" b="1" i="1" dirty="0">
                <a:solidFill>
                  <a:srgbClr val="FF0000"/>
                </a:solidFill>
                <a:latin typeface="Century Gothic" pitchFamily="34" charset="0"/>
                <a:sym typeface="Wingdings"/>
              </a:rPr>
              <a:t> </a:t>
            </a:r>
            <a:r>
              <a:rPr lang="tr-TR" sz="6000" b="1" dirty="0">
                <a:latin typeface="Century Gothic" pitchFamily="34" charset="0"/>
              </a:rPr>
              <a:t>Bir ucu </a:t>
            </a:r>
            <a:r>
              <a:rPr lang="tr-TR" sz="6000" b="1" dirty="0">
                <a:solidFill>
                  <a:srgbClr val="FF0000"/>
                </a:solidFill>
                <a:latin typeface="Century Gothic" pitchFamily="34" charset="0"/>
              </a:rPr>
              <a:t>sınırlı</a:t>
            </a:r>
            <a:r>
              <a:rPr lang="tr-TR" sz="6000" b="1" dirty="0">
                <a:latin typeface="Century Gothic" pitchFamily="34" charset="0"/>
              </a:rPr>
              <a:t>, diğer ucu </a:t>
            </a:r>
            <a:r>
              <a:rPr lang="tr-TR" sz="6000" b="1" dirty="0">
                <a:solidFill>
                  <a:srgbClr val="FF0000"/>
                </a:solidFill>
                <a:latin typeface="Century Gothic" pitchFamily="34" charset="0"/>
              </a:rPr>
              <a:t>sınırsız</a:t>
            </a:r>
            <a:r>
              <a:rPr lang="tr-TR" sz="6000" b="1" dirty="0">
                <a:latin typeface="Century Gothic" pitchFamily="34" charset="0"/>
              </a:rPr>
              <a:t> noktalar</a:t>
            </a:r>
          </a:p>
          <a:p>
            <a:r>
              <a:rPr lang="tr-TR" sz="6000" b="1" dirty="0">
                <a:latin typeface="Century Gothic" pitchFamily="34" charset="0"/>
              </a:rPr>
              <a:t>bütünüdür.</a:t>
            </a:r>
          </a:p>
        </p:txBody>
      </p:sp>
      <p:sp>
        <p:nvSpPr>
          <p:cNvPr id="4" name="3 Sağ Ok"/>
          <p:cNvSpPr/>
          <p:nvPr/>
        </p:nvSpPr>
        <p:spPr>
          <a:xfrm>
            <a:off x="500034" y="3857628"/>
            <a:ext cx="3714776" cy="857256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4 Sol Ok"/>
          <p:cNvSpPr/>
          <p:nvPr/>
        </p:nvSpPr>
        <p:spPr>
          <a:xfrm>
            <a:off x="5286380" y="3286124"/>
            <a:ext cx="3000396" cy="500066"/>
          </a:xfrm>
          <a:prstGeom prst="lef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5 Sol Ok"/>
          <p:cNvSpPr/>
          <p:nvPr/>
        </p:nvSpPr>
        <p:spPr>
          <a:xfrm rot="1739132">
            <a:off x="5723585" y="5029371"/>
            <a:ext cx="3214710" cy="571504"/>
          </a:xfrm>
          <a:prstGeom prst="lef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6 Aşağı Ok"/>
          <p:cNvSpPr/>
          <p:nvPr/>
        </p:nvSpPr>
        <p:spPr>
          <a:xfrm>
            <a:off x="4929190" y="3929066"/>
            <a:ext cx="571504" cy="2643206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26628" name="Picture 4" descr="hareketli çizgi dinazor gifler ile ilgili görsel sonucu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500570"/>
            <a:ext cx="3071802" cy="235743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 animBg="1"/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dörtgen"/>
          <p:cNvSpPr/>
          <p:nvPr/>
        </p:nvSpPr>
        <p:spPr>
          <a:xfrm>
            <a:off x="428564" y="214290"/>
            <a:ext cx="871543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6000" b="1" i="1" dirty="0">
                <a:solidFill>
                  <a:srgbClr val="FF0000"/>
                </a:solidFill>
                <a:latin typeface="Century Gothic" pitchFamily="34" charset="0"/>
                <a:sym typeface="Wingdings"/>
              </a:rPr>
              <a:t> </a:t>
            </a:r>
            <a:r>
              <a:rPr lang="tr-T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AB ışını; </a:t>
            </a:r>
          </a:p>
          <a:p>
            <a:r>
              <a:rPr lang="tr-T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A noktasından sınırlı, </a:t>
            </a:r>
          </a:p>
          <a:p>
            <a:r>
              <a:rPr lang="tr-T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B noktasından geçer.</a:t>
            </a:r>
          </a:p>
        </p:txBody>
      </p:sp>
      <p:sp>
        <p:nvSpPr>
          <p:cNvPr id="3" name="2 Sağ Ok"/>
          <p:cNvSpPr/>
          <p:nvPr/>
        </p:nvSpPr>
        <p:spPr>
          <a:xfrm>
            <a:off x="1000100" y="3214686"/>
            <a:ext cx="6500858" cy="10715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3 Dikdörtgen"/>
          <p:cNvSpPr/>
          <p:nvPr/>
        </p:nvSpPr>
        <p:spPr>
          <a:xfrm>
            <a:off x="1000100" y="2928934"/>
            <a:ext cx="60144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4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A</a:t>
            </a:r>
            <a:endParaRPr lang="tr-TR" sz="4400" dirty="0">
              <a:latin typeface="Century Gothic" pitchFamily="34" charset="0"/>
            </a:endParaRPr>
          </a:p>
        </p:txBody>
      </p:sp>
      <p:sp>
        <p:nvSpPr>
          <p:cNvPr id="5" name="4 Dikdörtgen"/>
          <p:cNvSpPr/>
          <p:nvPr/>
        </p:nvSpPr>
        <p:spPr>
          <a:xfrm>
            <a:off x="7358082" y="3071810"/>
            <a:ext cx="51167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4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B</a:t>
            </a:r>
            <a:endParaRPr lang="tr-TR" sz="4400" dirty="0">
              <a:latin typeface="Century Gothic" pitchFamily="34" charset="0"/>
            </a:endParaRPr>
          </a:p>
        </p:txBody>
      </p:sp>
      <p:sp>
        <p:nvSpPr>
          <p:cNvPr id="6" name="5 Dikdörtgen"/>
          <p:cNvSpPr/>
          <p:nvPr/>
        </p:nvSpPr>
        <p:spPr>
          <a:xfrm>
            <a:off x="2643174" y="3929066"/>
            <a:ext cx="207620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4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AB</a:t>
            </a:r>
            <a:r>
              <a:rPr lang="tr-TR" sz="4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 ışını</a:t>
            </a:r>
            <a:endParaRPr lang="tr-TR" sz="4400" dirty="0">
              <a:latin typeface="Century Gothic" pitchFamily="34" charset="0"/>
            </a:endParaRPr>
          </a:p>
        </p:txBody>
      </p:sp>
      <p:sp>
        <p:nvSpPr>
          <p:cNvPr id="7" name="6 Dikdörtgen"/>
          <p:cNvSpPr/>
          <p:nvPr/>
        </p:nvSpPr>
        <p:spPr>
          <a:xfrm>
            <a:off x="214282" y="4929198"/>
            <a:ext cx="871543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6000" b="1" i="1" dirty="0">
                <a:solidFill>
                  <a:srgbClr val="FF0000"/>
                </a:solidFill>
                <a:latin typeface="Century Gothic" pitchFamily="34" charset="0"/>
                <a:sym typeface="Wingdings"/>
              </a:rPr>
              <a:t> </a:t>
            </a:r>
            <a:r>
              <a:rPr lang="tr-T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Işınların başı vardır fakat sonu yoktur.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/>
      <p:bldP spid="5" grpId="0"/>
      <p:bldP spid="6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Yukarı Ok"/>
          <p:cNvSpPr/>
          <p:nvPr/>
        </p:nvSpPr>
        <p:spPr>
          <a:xfrm>
            <a:off x="1000100" y="2714620"/>
            <a:ext cx="714380" cy="3286148"/>
          </a:xfrm>
          <a:prstGeom prst="up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2 Dikdörtgen"/>
          <p:cNvSpPr/>
          <p:nvPr/>
        </p:nvSpPr>
        <p:spPr>
          <a:xfrm rot="16200000">
            <a:off x="453874" y="2403589"/>
            <a:ext cx="43313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4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L</a:t>
            </a:r>
            <a:endParaRPr lang="tr-TR" sz="4400" dirty="0">
              <a:latin typeface="Century Gothic" pitchFamily="34" charset="0"/>
            </a:endParaRPr>
          </a:p>
        </p:txBody>
      </p:sp>
      <p:sp>
        <p:nvSpPr>
          <p:cNvPr id="4" name="3 Dikdörtgen"/>
          <p:cNvSpPr/>
          <p:nvPr/>
        </p:nvSpPr>
        <p:spPr>
          <a:xfrm rot="16200000">
            <a:off x="546256" y="5383042"/>
            <a:ext cx="53412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4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K</a:t>
            </a:r>
            <a:endParaRPr lang="tr-TR" sz="4400" dirty="0">
              <a:latin typeface="Century Gothic" pitchFamily="34" charset="0"/>
            </a:endParaRPr>
          </a:p>
        </p:txBody>
      </p:sp>
      <p:sp>
        <p:nvSpPr>
          <p:cNvPr id="5" name="4 Dikdörtgen"/>
          <p:cNvSpPr/>
          <p:nvPr/>
        </p:nvSpPr>
        <p:spPr>
          <a:xfrm rot="16200000">
            <a:off x="1180199" y="4106157"/>
            <a:ext cx="177644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4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KL </a:t>
            </a:r>
            <a:r>
              <a:rPr lang="tr-TR" sz="4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ışını</a:t>
            </a:r>
            <a:endParaRPr lang="tr-TR" sz="4000" dirty="0">
              <a:latin typeface="Century Gothic" pitchFamily="34" charset="0"/>
            </a:endParaRPr>
          </a:p>
        </p:txBody>
      </p:sp>
      <p:cxnSp>
        <p:nvCxnSpPr>
          <p:cNvPr id="7" name="6 Düz Ok Bağlayıcısı"/>
          <p:cNvCxnSpPr/>
          <p:nvPr/>
        </p:nvCxnSpPr>
        <p:spPr>
          <a:xfrm>
            <a:off x="3143240" y="857232"/>
            <a:ext cx="3143272" cy="1588"/>
          </a:xfrm>
          <a:prstGeom prst="straightConnector1">
            <a:avLst/>
          </a:prstGeom>
          <a:ln w="762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8 Dikdörtgen"/>
          <p:cNvSpPr/>
          <p:nvPr/>
        </p:nvSpPr>
        <p:spPr>
          <a:xfrm>
            <a:off x="5715008" y="1000108"/>
            <a:ext cx="51167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4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R</a:t>
            </a:r>
            <a:endParaRPr lang="tr-TR" sz="4400" dirty="0">
              <a:latin typeface="Century Gothic" pitchFamily="34" charset="0"/>
            </a:endParaRPr>
          </a:p>
        </p:txBody>
      </p:sp>
      <p:sp>
        <p:nvSpPr>
          <p:cNvPr id="10" name="9 Dikdörtgen"/>
          <p:cNvSpPr/>
          <p:nvPr/>
        </p:nvSpPr>
        <p:spPr>
          <a:xfrm>
            <a:off x="3143240" y="928670"/>
            <a:ext cx="50045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4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P</a:t>
            </a:r>
            <a:endParaRPr lang="tr-TR" sz="4400" dirty="0">
              <a:latin typeface="Century Gothic" pitchFamily="34" charset="0"/>
            </a:endParaRPr>
          </a:p>
        </p:txBody>
      </p:sp>
      <p:sp>
        <p:nvSpPr>
          <p:cNvPr id="11" name="10 Dikdörtgen"/>
          <p:cNvSpPr/>
          <p:nvPr/>
        </p:nvSpPr>
        <p:spPr>
          <a:xfrm>
            <a:off x="3500430" y="1571612"/>
            <a:ext cx="181812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4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PR </a:t>
            </a:r>
            <a:r>
              <a:rPr lang="tr-TR" sz="4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ışını</a:t>
            </a:r>
            <a:endParaRPr lang="tr-TR" sz="4000" dirty="0">
              <a:latin typeface="Century Gothic" pitchFamily="34" charset="0"/>
            </a:endParaRPr>
          </a:p>
        </p:txBody>
      </p:sp>
      <p:sp>
        <p:nvSpPr>
          <p:cNvPr id="12" name="11 Aşağı Ok"/>
          <p:cNvSpPr/>
          <p:nvPr/>
        </p:nvSpPr>
        <p:spPr>
          <a:xfrm rot="18603882">
            <a:off x="6686361" y="1974145"/>
            <a:ext cx="714380" cy="4888274"/>
          </a:xfrm>
          <a:prstGeom prst="down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13 Dikdörtgen"/>
          <p:cNvSpPr/>
          <p:nvPr/>
        </p:nvSpPr>
        <p:spPr>
          <a:xfrm rot="2570945">
            <a:off x="8191394" y="4365212"/>
            <a:ext cx="53412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4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Y</a:t>
            </a:r>
            <a:endParaRPr lang="tr-TR" sz="4400" dirty="0">
              <a:latin typeface="Century Gothic" pitchFamily="34" charset="0"/>
            </a:endParaRPr>
          </a:p>
        </p:txBody>
      </p:sp>
      <p:sp>
        <p:nvSpPr>
          <p:cNvPr id="15" name="14 Dikdörtgen"/>
          <p:cNvSpPr/>
          <p:nvPr/>
        </p:nvSpPr>
        <p:spPr>
          <a:xfrm rot="2342498">
            <a:off x="5679627" y="2521774"/>
            <a:ext cx="56778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4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X</a:t>
            </a:r>
            <a:endParaRPr lang="tr-TR" sz="4400" dirty="0">
              <a:latin typeface="Century Gothic" pitchFamily="34" charset="0"/>
            </a:endParaRPr>
          </a:p>
        </p:txBody>
      </p:sp>
      <p:sp>
        <p:nvSpPr>
          <p:cNvPr id="16" name="15 Dikdörtgen"/>
          <p:cNvSpPr/>
          <p:nvPr/>
        </p:nvSpPr>
        <p:spPr>
          <a:xfrm rot="2556348">
            <a:off x="5918166" y="4550135"/>
            <a:ext cx="189987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4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XY </a:t>
            </a:r>
            <a:r>
              <a:rPr lang="tr-TR" sz="4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ışını</a:t>
            </a:r>
            <a:endParaRPr lang="tr-TR" sz="4000" dirty="0">
              <a:latin typeface="Century Gothic" pitchFamily="34" charset="0"/>
            </a:endParaRPr>
          </a:p>
        </p:txBody>
      </p:sp>
      <p:pic>
        <p:nvPicPr>
          <p:cNvPr id="24578" name="Picture 2" descr="İlgili resim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0298" y="3857628"/>
            <a:ext cx="3324225" cy="283369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7" dur="20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/>
      <p:bldP spid="9" grpId="0"/>
      <p:bldP spid="10" grpId="0"/>
      <p:bldP spid="11" grpId="0"/>
      <p:bldP spid="12" grpId="0" animBg="1"/>
      <p:bldP spid="14" grpId="0"/>
      <p:bldP spid="15" grpId="0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ÇİZGİ MİNARE ile ilgili görsel sonucu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428604"/>
            <a:ext cx="3035774" cy="2786058"/>
          </a:xfrm>
          <a:prstGeom prst="rect">
            <a:avLst/>
          </a:prstGeom>
          <a:noFill/>
        </p:spPr>
      </p:pic>
      <p:pic>
        <p:nvPicPr>
          <p:cNvPr id="23556" name="Picture 4" descr="İlgili resi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14744" y="428604"/>
            <a:ext cx="2916798" cy="2714644"/>
          </a:xfrm>
          <a:prstGeom prst="rect">
            <a:avLst/>
          </a:prstGeom>
          <a:noFill/>
        </p:spPr>
      </p:pic>
      <p:pic>
        <p:nvPicPr>
          <p:cNvPr id="23560" name="Picture 8" descr="ÇİZGİ ÇİVİ ile ilgili görsel sonucu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29454" y="357166"/>
            <a:ext cx="1696227" cy="3392455"/>
          </a:xfrm>
          <a:prstGeom prst="rect">
            <a:avLst/>
          </a:prstGeom>
          <a:noFill/>
        </p:spPr>
      </p:pic>
      <p:sp>
        <p:nvSpPr>
          <p:cNvPr id="23562" name="AutoShape 10" descr="ÇİZGİ ÖRGÜ ŞİŞİ ile ilgili görsel sonucu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pic>
        <p:nvPicPr>
          <p:cNvPr id="23564" name="Picture 12" descr="ÇİZGİ ÖRGÜ ŞİŞİ ile ilgili görsel sonucu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28596" y="3500438"/>
            <a:ext cx="2286000" cy="2928958"/>
          </a:xfrm>
          <a:prstGeom prst="rect">
            <a:avLst/>
          </a:prstGeom>
          <a:noFill/>
        </p:spPr>
      </p:pic>
      <p:pic>
        <p:nvPicPr>
          <p:cNvPr id="23566" name="Picture 14" descr="ÇİZGİ TOPLU İĞNE ile ilgili görsel sonucu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929058" y="3500438"/>
            <a:ext cx="2446846" cy="3098789"/>
          </a:xfrm>
          <a:prstGeom prst="rect">
            <a:avLst/>
          </a:prstGeom>
          <a:noFill/>
        </p:spPr>
      </p:pic>
      <p:pic>
        <p:nvPicPr>
          <p:cNvPr id="23568" name="Picture 16" descr="OK ile ilgili görsel sonucu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715140" y="3857628"/>
            <a:ext cx="2047267" cy="264320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23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23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188</Words>
  <Application>Microsoft Office PowerPoint</Application>
  <PresentationFormat>Ekran Gösterisi (4:3)</PresentationFormat>
  <Paragraphs>62</Paragraphs>
  <Slides>16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16</vt:i4>
      </vt:variant>
    </vt:vector>
  </HeadingPairs>
  <TitlesOfParts>
    <vt:vector size="21" baseType="lpstr">
      <vt:lpstr>Arial</vt:lpstr>
      <vt:lpstr>Calibri</vt:lpstr>
      <vt:lpstr>Century Gothic</vt:lpstr>
      <vt:lpstr>Wingdings</vt:lpstr>
      <vt:lpstr>Ofis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Slayt 1</dc:title>
  <dc:creator>toshiba</dc:creator>
  <cp:lastModifiedBy>Sibel Killi</cp:lastModifiedBy>
  <cp:revision>20</cp:revision>
  <dcterms:created xsi:type="dcterms:W3CDTF">2016-12-07T20:38:52Z</dcterms:created>
  <dcterms:modified xsi:type="dcterms:W3CDTF">2022-04-11T09:38:09Z</dcterms:modified>
</cp:coreProperties>
</file>