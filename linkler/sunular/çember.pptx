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63" r:id="rId4"/>
    <p:sldId id="271" r:id="rId5"/>
    <p:sldId id="272" r:id="rId6"/>
    <p:sldId id="261" r:id="rId7"/>
    <p:sldId id="262" r:id="rId8"/>
    <p:sldId id="259" r:id="rId9"/>
    <p:sldId id="260" r:id="rId10"/>
    <p:sldId id="258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9144000" cy="6858000" type="screen4x3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1498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Başlık Slaydı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aşlık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9" name="Alt Başlık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tr-TR"/>
              <a:t>Asıl alt başlık stilini düzenlemek için tıklatın</a:t>
            </a:r>
            <a:endParaRPr kumimoji="0" lang="en-US"/>
          </a:p>
        </p:txBody>
      </p:sp>
      <p:sp>
        <p:nvSpPr>
          <p:cNvPr id="28" name="Veri Yer Tutucusu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F23F8961-4389-4B75-A669-EB2E9C94006A}" type="datetimeFigureOut">
              <a:rPr lang="tr-TR" smtClean="0"/>
              <a:t>11.04.2022</a:t>
            </a:fld>
            <a:endParaRPr lang="tr-TR" dirty="0"/>
          </a:p>
        </p:txBody>
      </p:sp>
      <p:sp>
        <p:nvSpPr>
          <p:cNvPr id="17" name="Altbilgi Yer Tutucusu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tr-TR" dirty="0"/>
          </a:p>
        </p:txBody>
      </p:sp>
      <p:sp>
        <p:nvSpPr>
          <p:cNvPr id="10" name="Dikdörtgen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Dikdörtgen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4" name="Dikdörtgen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Dikdörtgen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1" name="Düz Bağlayıcı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8" name="Düz Bağlayıcı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Düz Bağlayıcı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6" name="Düz Bağlayıcı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5" name="Düz Bağlayıcı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Düz Bağlayıcı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7" name="Dikdörtgen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ayt Numarası Yer Tutucusu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511005C9-606F-4BFA-A84F-8C58EDF79BF5}" type="slidenum">
              <a:rPr lang="tr-TR" smtClean="0"/>
              <a:t>‹#›</a:t>
            </a:fld>
            <a:endParaRPr lang="tr-TR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8" name="İçerik Yer Tutucusu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tr-TR"/>
              <a:t>Asıl metin stillerini düzenlemek için tıklatın</a:t>
            </a:r>
          </a:p>
          <a:p>
            <a:pPr lvl="1" eaLnBrk="1" latinLnBrk="0" hangingPunct="1"/>
            <a:r>
              <a:rPr lang="tr-TR"/>
              <a:t>İkinci düzey</a:t>
            </a:r>
          </a:p>
          <a:p>
            <a:pPr lvl="2" eaLnBrk="1" latinLnBrk="0" hangingPunct="1"/>
            <a:r>
              <a:rPr lang="tr-TR"/>
              <a:t>Üçüncü düzey</a:t>
            </a:r>
          </a:p>
          <a:p>
            <a:pPr lvl="3" eaLnBrk="1" latinLnBrk="0" hangingPunct="1"/>
            <a:r>
              <a:rPr lang="tr-TR"/>
              <a:t>Dördüncü düzey</a:t>
            </a:r>
          </a:p>
          <a:p>
            <a:pPr lvl="4" eaLnBrk="1" latinLnBrk="0" hangingPunct="1"/>
            <a:r>
              <a:rPr lang="tr-TR"/>
              <a:t>Beşinci düzey</a:t>
            </a:r>
            <a:endParaRPr kumimoji="0" lang="en-US"/>
          </a:p>
        </p:txBody>
      </p:sp>
      <p:sp>
        <p:nvSpPr>
          <p:cNvPr id="7" name="Veri Yer Tutucusu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F23F8961-4389-4B75-A669-EB2E9C94006A}" type="datetimeFigureOut">
              <a:rPr lang="tr-TR" smtClean="0"/>
              <a:t>11.04.2022</a:t>
            </a:fld>
            <a:endParaRPr lang="tr-TR" dirty="0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511005C9-606F-4BFA-A84F-8C58EDF79BF5}" type="slidenum">
              <a:rPr lang="tr-TR" smtClean="0"/>
              <a:t>‹#›</a:t>
            </a:fld>
            <a:endParaRPr lang="tr-TR" dirty="0"/>
          </a:p>
        </p:txBody>
      </p:sp>
      <p:sp>
        <p:nvSpPr>
          <p:cNvPr id="10" name="Altbilgi Yer Tutucusu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tr-TR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Bölüm Üstbilgisi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tr-TR"/>
              <a:t>Asıl metin stillerini düzenlemek için tıklatın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F23F8961-4389-4B75-A669-EB2E9C94006A}" type="datetimeFigureOut">
              <a:rPr lang="tr-TR" smtClean="0"/>
              <a:t>11.04.2022</a:t>
            </a:fld>
            <a:endParaRPr lang="tr-TR" dirty="0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tr-TR" dirty="0"/>
          </a:p>
        </p:txBody>
      </p:sp>
      <p:sp>
        <p:nvSpPr>
          <p:cNvPr id="9" name="Dikdörtgen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0" name="Dikdörtgen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1" name="Dikdörtgen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Dikdörtgen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3" name="Düz Bağlayıcı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4" name="Düz Bağlayıcı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5" name="Düz Bağlayıcı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6" name="Düz Bağlayıcı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Düz Bağlayıcı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8" name="Dikdörtgen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Düz Bağlayıcı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511005C9-606F-4BFA-A84F-8C58EDF79BF5}" type="slidenum">
              <a:rPr lang="tr-TR" smtClean="0"/>
              <a:t>‹#›</a:t>
            </a:fld>
            <a:endParaRPr lang="tr-TR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F8961-4389-4B75-A669-EB2E9C94006A}" type="datetimeFigureOut">
              <a:rPr lang="tr-TR" smtClean="0"/>
              <a:t>11.04.2022</a:t>
            </a:fld>
            <a:endParaRPr lang="tr-TR" dirty="0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005C9-606F-4BFA-A84F-8C58EDF79BF5}" type="slidenum">
              <a:rPr lang="tr-TR" smtClean="0"/>
              <a:t>‹#›</a:t>
            </a:fld>
            <a:endParaRPr lang="tr-TR" dirty="0"/>
          </a:p>
        </p:txBody>
      </p:sp>
      <p:sp>
        <p:nvSpPr>
          <p:cNvPr id="9" name="İçerik Yer Tutucusu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tr-TR"/>
              <a:t>Asıl metin stillerini düzenlemek için tıklatın</a:t>
            </a:r>
          </a:p>
          <a:p>
            <a:pPr lvl="1" eaLnBrk="1" latinLnBrk="0" hangingPunct="1"/>
            <a:r>
              <a:rPr lang="tr-TR"/>
              <a:t>İkinci düzey</a:t>
            </a:r>
          </a:p>
          <a:p>
            <a:pPr lvl="2" eaLnBrk="1" latinLnBrk="0" hangingPunct="1"/>
            <a:r>
              <a:rPr lang="tr-TR"/>
              <a:t>Üçüncü düzey</a:t>
            </a:r>
          </a:p>
          <a:p>
            <a:pPr lvl="3" eaLnBrk="1" latinLnBrk="0" hangingPunct="1"/>
            <a:r>
              <a:rPr lang="tr-TR"/>
              <a:t>Dördüncü düzey</a:t>
            </a:r>
          </a:p>
          <a:p>
            <a:pPr lvl="4" eaLnBrk="1" latinLnBrk="0" hangingPunct="1"/>
            <a:r>
              <a:rPr lang="tr-TR"/>
              <a:t>Beşinci düzey</a:t>
            </a:r>
            <a:endParaRPr kumimoji="0" lang="en-US"/>
          </a:p>
        </p:txBody>
      </p:sp>
      <p:sp>
        <p:nvSpPr>
          <p:cNvPr id="11" name="İçerik Yer Tutucusu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tr-TR"/>
              <a:t>Asıl metin stillerini düzenlemek için tıklatın</a:t>
            </a:r>
          </a:p>
          <a:p>
            <a:pPr lvl="1" eaLnBrk="1" latinLnBrk="0" hangingPunct="1"/>
            <a:r>
              <a:rPr lang="tr-TR"/>
              <a:t>İkinci düzey</a:t>
            </a:r>
          </a:p>
          <a:p>
            <a:pPr lvl="2" eaLnBrk="1" latinLnBrk="0" hangingPunct="1"/>
            <a:r>
              <a:rPr lang="tr-TR"/>
              <a:t>Üçüncü düzey</a:t>
            </a:r>
          </a:p>
          <a:p>
            <a:pPr lvl="3" eaLnBrk="1" latinLnBrk="0" hangingPunct="1"/>
            <a:r>
              <a:rPr lang="tr-TR"/>
              <a:t>Dördüncü düzey</a:t>
            </a:r>
          </a:p>
          <a:p>
            <a:pPr lvl="4" eaLnBrk="1" latinLnBrk="0" hangingPunct="1"/>
            <a:r>
              <a:rPr lang="tr-TR"/>
              <a:t>Beşinci düzey</a:t>
            </a:r>
            <a:endParaRPr kumimoji="0"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7" name="Veri Yer Tutucusu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F8961-4389-4B75-A669-EB2E9C94006A}" type="datetimeFigureOut">
              <a:rPr lang="tr-TR" smtClean="0"/>
              <a:t>11.04.2022</a:t>
            </a:fld>
            <a:endParaRPr lang="tr-TR" dirty="0"/>
          </a:p>
        </p:txBody>
      </p:sp>
      <p:sp>
        <p:nvSpPr>
          <p:cNvPr id="8" name="Altbilgi Yer Tutucusu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005C9-606F-4BFA-A84F-8C58EDF79BF5}" type="slidenum">
              <a:rPr lang="tr-TR" smtClean="0"/>
              <a:t>‹#›</a:t>
            </a:fld>
            <a:endParaRPr lang="tr-TR" dirty="0"/>
          </a:p>
        </p:txBody>
      </p:sp>
      <p:sp>
        <p:nvSpPr>
          <p:cNvPr id="11" name="İçerik Yer Tutucusu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tr-TR"/>
              <a:t>Asıl metin stillerini düzenlemek için tıklatın</a:t>
            </a:r>
          </a:p>
          <a:p>
            <a:pPr lvl="1" eaLnBrk="1" latinLnBrk="0" hangingPunct="1"/>
            <a:r>
              <a:rPr lang="tr-TR"/>
              <a:t>İkinci düzey</a:t>
            </a:r>
          </a:p>
          <a:p>
            <a:pPr lvl="2" eaLnBrk="1" latinLnBrk="0" hangingPunct="1"/>
            <a:r>
              <a:rPr lang="tr-TR"/>
              <a:t>Üçüncü düzey</a:t>
            </a:r>
          </a:p>
          <a:p>
            <a:pPr lvl="3" eaLnBrk="1" latinLnBrk="0" hangingPunct="1"/>
            <a:r>
              <a:rPr lang="tr-TR"/>
              <a:t>Dördüncü düzey</a:t>
            </a:r>
          </a:p>
          <a:p>
            <a:pPr lvl="4" eaLnBrk="1" latinLnBrk="0" hangingPunct="1"/>
            <a:r>
              <a:rPr lang="tr-TR"/>
              <a:t>Beşinci düzey</a:t>
            </a:r>
            <a:endParaRPr kumimoji="0" lang="en-US"/>
          </a:p>
        </p:txBody>
      </p:sp>
      <p:sp>
        <p:nvSpPr>
          <p:cNvPr id="13" name="İçerik Yer Tutucusu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tr-TR"/>
              <a:t>Asıl metin stillerini düzenlemek için tıklatın</a:t>
            </a:r>
          </a:p>
          <a:p>
            <a:pPr lvl="1" eaLnBrk="1" latinLnBrk="0" hangingPunct="1"/>
            <a:r>
              <a:rPr lang="tr-TR"/>
              <a:t>İkinci düzey</a:t>
            </a:r>
          </a:p>
          <a:p>
            <a:pPr lvl="2" eaLnBrk="1" latinLnBrk="0" hangingPunct="1"/>
            <a:r>
              <a:rPr lang="tr-TR"/>
              <a:t>Üçüncü düzey</a:t>
            </a:r>
          </a:p>
          <a:p>
            <a:pPr lvl="3" eaLnBrk="1" latinLnBrk="0" hangingPunct="1"/>
            <a:r>
              <a:rPr lang="tr-TR"/>
              <a:t>Dördüncü düzey</a:t>
            </a:r>
          </a:p>
          <a:p>
            <a:pPr lvl="4" eaLnBrk="1" latinLnBrk="0" hangingPunct="1"/>
            <a:r>
              <a:rPr lang="tr-TR"/>
              <a:t>Beşinci düzey</a:t>
            </a:r>
            <a:endParaRPr kumimoji="0" lang="en-US"/>
          </a:p>
        </p:txBody>
      </p:sp>
      <p:sp>
        <p:nvSpPr>
          <p:cNvPr id="12" name="Metin Yer Tutucusu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tr-TR"/>
              <a:t>Asıl metin stillerini düzenlemek için tıklatın</a:t>
            </a:r>
          </a:p>
        </p:txBody>
      </p:sp>
      <p:sp>
        <p:nvSpPr>
          <p:cNvPr id="14" name="Metin Yer Tutucusu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tr-TR"/>
              <a:t>Asıl metin stillerini düzenlemek için tıklatın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6" name="Veri Yer Tutucusu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F23F8961-4389-4B75-A669-EB2E9C94006A}" type="datetimeFigureOut">
              <a:rPr lang="tr-TR" smtClean="0"/>
              <a:t>11.04.2022</a:t>
            </a:fld>
            <a:endParaRPr lang="tr-TR" dirty="0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511005C9-606F-4BFA-A84F-8C58EDF79BF5}" type="slidenum">
              <a:rPr lang="tr-TR" smtClean="0"/>
              <a:t>‹#›</a:t>
            </a:fld>
            <a:endParaRPr lang="tr-TR" dirty="0"/>
          </a:p>
        </p:txBody>
      </p:sp>
      <p:sp>
        <p:nvSpPr>
          <p:cNvPr id="8" name="Altbilgi Yer Tutucusu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tr-TR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F8961-4389-4B75-A669-EB2E9C94006A}" type="datetimeFigureOut">
              <a:rPr lang="tr-TR" smtClean="0"/>
              <a:t>11.04.2022</a:t>
            </a:fld>
            <a:endParaRPr lang="tr-TR" dirty="0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005C9-606F-4BFA-A84F-8C58EDF79BF5}" type="slidenum">
              <a:rPr lang="tr-TR" smtClean="0"/>
              <a:t>‹#›</a:t>
            </a:fld>
            <a:endParaRPr lang="tr-TR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Başlıklı İçeri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üz Bağlayıcı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3" name="Metin Yer Tutucusu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tr-TR"/>
              <a:t>Asıl metin stillerini düzenlemek için tıklatın</a:t>
            </a:r>
          </a:p>
        </p:txBody>
      </p:sp>
      <p:sp>
        <p:nvSpPr>
          <p:cNvPr id="8" name="Düz Bağlayıcı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Düz Bağlayıcı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Düz Bağlayıcı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2" name="Dikdörtgen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3" name="Düz Bağlayıcı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İçerik Yer Tutucusu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tr-TR"/>
              <a:t>Asıl metin stillerini düzenlemek için tıklatın</a:t>
            </a:r>
          </a:p>
          <a:p>
            <a:pPr lvl="1" eaLnBrk="1" latinLnBrk="0" hangingPunct="1"/>
            <a:r>
              <a:rPr lang="tr-TR"/>
              <a:t>İkinci düzey</a:t>
            </a:r>
          </a:p>
          <a:p>
            <a:pPr lvl="2" eaLnBrk="1" latinLnBrk="0" hangingPunct="1"/>
            <a:r>
              <a:rPr lang="tr-TR"/>
              <a:t>Üçüncü düzey</a:t>
            </a:r>
          </a:p>
          <a:p>
            <a:pPr lvl="3" eaLnBrk="1" latinLnBrk="0" hangingPunct="1"/>
            <a:r>
              <a:rPr lang="tr-TR"/>
              <a:t>Dördüncü düzey</a:t>
            </a:r>
          </a:p>
          <a:p>
            <a:pPr lvl="4" eaLnBrk="1" latinLnBrk="0" hangingPunct="1"/>
            <a:r>
              <a:rPr lang="tr-TR"/>
              <a:t>Beşinci düzey</a:t>
            </a:r>
            <a:endParaRPr kumimoji="0" lang="en-US"/>
          </a:p>
        </p:txBody>
      </p:sp>
      <p:sp>
        <p:nvSpPr>
          <p:cNvPr id="21" name="Veri Yer Tutucusu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F23F8961-4389-4B75-A669-EB2E9C94006A}" type="datetimeFigureOut">
              <a:rPr lang="tr-TR" smtClean="0"/>
              <a:t>11.04.2022</a:t>
            </a:fld>
            <a:endParaRPr lang="tr-TR" dirty="0"/>
          </a:p>
        </p:txBody>
      </p:sp>
      <p:sp>
        <p:nvSpPr>
          <p:cNvPr id="22" name="Slayt Numarası Yer Tutucusu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511005C9-606F-4BFA-A84F-8C58EDF79BF5}" type="slidenum">
              <a:rPr lang="tr-TR" smtClean="0"/>
              <a:t>‹#›</a:t>
            </a:fld>
            <a:endParaRPr lang="tr-TR" dirty="0"/>
          </a:p>
        </p:txBody>
      </p:sp>
      <p:sp>
        <p:nvSpPr>
          <p:cNvPr id="23" name="Altbilgi Yer Tutucusu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tr-TR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üz Bağlayıcı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3" name="Resim Yer Tutucusu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tr-TR" dirty="0"/>
              <a:t>Resim eklemek için simgeyi tıklatın</a:t>
            </a:r>
            <a:endParaRPr kumimoji="0" lang="en-US" dirty="0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tr-TR"/>
              <a:t>Asıl metin stillerini düzenlemek için tıklatın</a:t>
            </a:r>
          </a:p>
        </p:txBody>
      </p:sp>
      <p:sp>
        <p:nvSpPr>
          <p:cNvPr id="10" name="Düz Bağlayıcı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Dikdörtgen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Düz Bağlayıcı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9" name="Düz Bağlayıcı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Düz Bağlayıcı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Veri Yer Tutucusu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F23F8961-4389-4B75-A669-EB2E9C94006A}" type="datetimeFigureOut">
              <a:rPr lang="tr-TR" smtClean="0"/>
              <a:t>11.04.2022</a:t>
            </a:fld>
            <a:endParaRPr lang="tr-TR" dirty="0"/>
          </a:p>
        </p:txBody>
      </p:sp>
      <p:sp>
        <p:nvSpPr>
          <p:cNvPr id="18" name="Slayt Numarası Yer Tutucusu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511005C9-606F-4BFA-A84F-8C58EDF79BF5}" type="slidenum">
              <a:rPr lang="tr-TR" smtClean="0"/>
              <a:t>‹#›</a:t>
            </a:fld>
            <a:endParaRPr lang="tr-TR" dirty="0"/>
          </a:p>
        </p:txBody>
      </p:sp>
      <p:sp>
        <p:nvSpPr>
          <p:cNvPr id="21" name="Altbilgi Yer Tutucusu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tr-TR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tr-TR"/>
              <a:t>Asıl metin stillerini düzenlemek için tıklatın</a:t>
            </a:r>
          </a:p>
          <a:p>
            <a:pPr lvl="1" eaLnBrk="1" latinLnBrk="0" hangingPunct="1"/>
            <a:r>
              <a:rPr lang="tr-TR"/>
              <a:t>İkinci düzey</a:t>
            </a:r>
          </a:p>
          <a:p>
            <a:pPr lvl="2" eaLnBrk="1" latinLnBrk="0" hangingPunct="1"/>
            <a:r>
              <a:rPr lang="tr-TR"/>
              <a:t>Üçüncü düzey</a:t>
            </a:r>
          </a:p>
          <a:p>
            <a:pPr lvl="3" eaLnBrk="1" latinLnBrk="0" hangingPunct="1"/>
            <a:r>
              <a:rPr lang="tr-TR"/>
              <a:t>Dördüncü düzey</a:t>
            </a:r>
          </a:p>
          <a:p>
            <a:pPr lvl="4" eaLnBrk="1" latinLnBrk="0" hangingPunct="1"/>
            <a:r>
              <a:rPr lang="tr-TR"/>
              <a:t>Beşinci düzey</a:t>
            </a:r>
            <a:endParaRPr kumimoji="0" lang="en-US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F8961-4389-4B75-A669-EB2E9C94006A}" type="datetimeFigureOut">
              <a:rPr lang="tr-TR" smtClean="0"/>
              <a:t>11.04.2022</a:t>
            </a:fld>
            <a:endParaRPr lang="tr-TR" dirty="0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005C9-606F-4BFA-A84F-8C58EDF79BF5}" type="slidenum">
              <a:rPr lang="tr-TR" smtClean="0"/>
              <a:t>‹#›</a:t>
            </a:fld>
            <a:endParaRPr lang="tr-TR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tr-TR"/>
              <a:t>Asıl metin stillerini düzenlemek için tıklatın</a:t>
            </a:r>
          </a:p>
          <a:p>
            <a:pPr lvl="1" eaLnBrk="1" latinLnBrk="0" hangingPunct="1"/>
            <a:r>
              <a:rPr lang="tr-TR"/>
              <a:t>İkinci düzey</a:t>
            </a:r>
          </a:p>
          <a:p>
            <a:pPr lvl="2" eaLnBrk="1" latinLnBrk="0" hangingPunct="1"/>
            <a:r>
              <a:rPr lang="tr-TR"/>
              <a:t>Üçüncü düzey</a:t>
            </a:r>
          </a:p>
          <a:p>
            <a:pPr lvl="3" eaLnBrk="1" latinLnBrk="0" hangingPunct="1"/>
            <a:r>
              <a:rPr lang="tr-TR"/>
              <a:t>Dördüncü düzey</a:t>
            </a:r>
          </a:p>
          <a:p>
            <a:pPr lvl="4" eaLnBrk="1" latinLnBrk="0" hangingPunct="1"/>
            <a:r>
              <a:rPr lang="tr-TR"/>
              <a:t>Beşinci düzey</a:t>
            </a:r>
            <a:endParaRPr kumimoji="0" lang="en-US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F8961-4389-4B75-A669-EB2E9C94006A}" type="datetimeFigureOut">
              <a:rPr lang="tr-TR" smtClean="0"/>
              <a:t>11.04.2022</a:t>
            </a:fld>
            <a:endParaRPr lang="tr-TR" dirty="0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005C9-606F-4BFA-A84F-8C58EDF79BF5}" type="slidenum">
              <a:rPr lang="tr-TR" smtClean="0"/>
              <a:t>‹#›</a:t>
            </a:fld>
            <a:endParaRPr lang="tr-TR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Düz Bağlayıcı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Başlık Yer Tutucusu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13" name="Metin Yer Tutucusu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tr-TR"/>
              <a:t>Asıl metin stillerini düzenlemek için tıklatın</a:t>
            </a:r>
          </a:p>
          <a:p>
            <a:pPr lvl="1" eaLnBrk="1" latinLnBrk="0" hangingPunct="1"/>
            <a:r>
              <a:rPr kumimoji="0" lang="tr-TR"/>
              <a:t>İkinci düzey</a:t>
            </a:r>
          </a:p>
          <a:p>
            <a:pPr lvl="2" eaLnBrk="1" latinLnBrk="0" hangingPunct="1"/>
            <a:r>
              <a:rPr kumimoji="0" lang="tr-TR"/>
              <a:t>Üçüncü düzey</a:t>
            </a:r>
          </a:p>
          <a:p>
            <a:pPr lvl="3" eaLnBrk="1" latinLnBrk="0" hangingPunct="1"/>
            <a:r>
              <a:rPr kumimoji="0" lang="tr-TR"/>
              <a:t>Dördüncü düzey</a:t>
            </a:r>
          </a:p>
          <a:p>
            <a:pPr lvl="4" eaLnBrk="1" latinLnBrk="0" hangingPunct="1"/>
            <a:r>
              <a:rPr kumimoji="0" lang="tr-TR"/>
              <a:t>Beşinci düzey</a:t>
            </a:r>
            <a:endParaRPr kumimoji="0" lang="en-US"/>
          </a:p>
        </p:txBody>
      </p:sp>
      <p:sp>
        <p:nvSpPr>
          <p:cNvPr id="14" name="Veri Yer Tutucusu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F23F8961-4389-4B75-A669-EB2E9C94006A}" type="datetimeFigureOut">
              <a:rPr lang="tr-TR" smtClean="0"/>
              <a:t>11.04.2022</a:t>
            </a:fld>
            <a:endParaRPr lang="tr-TR" dirty="0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tr-TR" dirty="0"/>
          </a:p>
        </p:txBody>
      </p:sp>
      <p:sp>
        <p:nvSpPr>
          <p:cNvPr id="7" name="Düz Bağlayıcı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Düz Bağlayıcı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0" name="Dikdörtgen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1" name="Düz Bağlayıcı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ayt Numarası Yer Tutucusu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511005C9-606F-4BFA-A84F-8C58EDF79BF5}" type="slidenum">
              <a:rPr lang="tr-TR" smtClean="0"/>
              <a:t>‹#›</a:t>
            </a:fld>
            <a:endParaRPr lang="tr-T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2.xml"/><Relationship Id="rId5" Type="http://schemas.openxmlformats.org/officeDocument/2006/relationships/slide" Target="slide8.xml"/><Relationship Id="rId4" Type="http://schemas.openxmlformats.org/officeDocument/2006/relationships/slide" Target="slide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slide" Target="slide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alisma-kitabi.com/" TargetMode="External"/><Relationship Id="rId2" Type="http://schemas.openxmlformats.org/officeDocument/2006/relationships/hyperlink" Target="http://matematik-canavari.blogspot.com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ttkb.meb.gov.tr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ctrTitle"/>
          </p:nvPr>
        </p:nvSpPr>
        <p:spPr>
          <a:xfrm>
            <a:off x="1979712" y="1484784"/>
            <a:ext cx="6460232" cy="2326410"/>
          </a:xfrm>
        </p:spPr>
        <p:txBody>
          <a:bodyPr>
            <a:noAutofit/>
          </a:bodyPr>
          <a:lstStyle/>
          <a:p>
            <a:pPr algn="ctr"/>
            <a:r>
              <a:rPr lang="tr-TR" sz="4400" dirty="0">
                <a:latin typeface="Monotype Corsiva" pitchFamily="66" charset="0"/>
                <a:ea typeface="Verdana" pitchFamily="34" charset="0"/>
                <a:cs typeface="Times New Roman" pitchFamily="18" charset="0"/>
              </a:rPr>
              <a:t>ÇEMBER VE DAİRE</a:t>
            </a:r>
          </a:p>
        </p:txBody>
      </p:sp>
    </p:spTree>
    <p:extLst>
      <p:ext uri="{BB962C8B-B14F-4D97-AF65-F5344CB8AC3E}">
        <p14:creationId xmlns:p14="http://schemas.microsoft.com/office/powerpoint/2010/main" val="4124136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388488" y="0"/>
            <a:ext cx="7467600" cy="1143000"/>
          </a:xfrm>
        </p:spPr>
        <p:txBody>
          <a:bodyPr>
            <a:normAutofit/>
          </a:bodyPr>
          <a:lstStyle/>
          <a:p>
            <a:pPr algn="ctr"/>
            <a:r>
              <a:rPr lang="tr-TR" sz="3200" b="1" dirty="0">
                <a:latin typeface="Monotype Corsiva" pitchFamily="66" charset="0"/>
              </a:rPr>
              <a:t>İÇİNDEKİLER</a:t>
            </a:r>
          </a:p>
        </p:txBody>
      </p:sp>
      <p:sp>
        <p:nvSpPr>
          <p:cNvPr id="4" name="Yatay Kaydırma 3">
            <a:hlinkClick r:id="rId2" action="ppaction://hlinksldjump"/>
          </p:cNvPr>
          <p:cNvSpPr/>
          <p:nvPr/>
        </p:nvSpPr>
        <p:spPr>
          <a:xfrm>
            <a:off x="467544" y="1268760"/>
            <a:ext cx="3240360" cy="936104"/>
          </a:xfrm>
          <a:prstGeom prst="horizontalScrol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2200" dirty="0">
                <a:latin typeface="Monotype Corsiva" pitchFamily="66" charset="0"/>
              </a:rPr>
              <a:t>Çemberin Özellikleri</a:t>
            </a:r>
          </a:p>
        </p:txBody>
      </p:sp>
      <p:sp>
        <p:nvSpPr>
          <p:cNvPr id="6" name="Yatay Kaydırma 5">
            <a:hlinkClick r:id="rId3" action="ppaction://hlinksldjump"/>
          </p:cNvPr>
          <p:cNvSpPr/>
          <p:nvPr/>
        </p:nvSpPr>
        <p:spPr>
          <a:xfrm>
            <a:off x="1331640" y="2276872"/>
            <a:ext cx="3240360" cy="936104"/>
          </a:xfrm>
          <a:prstGeom prst="horizontalScrol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2200" dirty="0">
                <a:latin typeface="Monotype Corsiva" pitchFamily="66" charset="0"/>
              </a:rPr>
              <a:t>Çemberin Düzlemde Ayırdığı Bölgeler</a:t>
            </a:r>
          </a:p>
        </p:txBody>
      </p:sp>
      <p:sp>
        <p:nvSpPr>
          <p:cNvPr id="7" name="Yatay Kaydırma 6">
            <a:hlinkClick r:id="rId4" action="ppaction://hlinksldjump"/>
          </p:cNvPr>
          <p:cNvSpPr/>
          <p:nvPr/>
        </p:nvSpPr>
        <p:spPr>
          <a:xfrm>
            <a:off x="2267744" y="3284984"/>
            <a:ext cx="3240360" cy="936104"/>
          </a:xfrm>
          <a:prstGeom prst="horizontalScrol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2200" dirty="0">
                <a:latin typeface="Monotype Corsiva" pitchFamily="66" charset="0"/>
              </a:rPr>
              <a:t>Çemberin Doğru İle İlişkisi</a:t>
            </a:r>
          </a:p>
        </p:txBody>
      </p:sp>
      <p:sp>
        <p:nvSpPr>
          <p:cNvPr id="8" name="Yatay Kaydırma 7">
            <a:hlinkClick r:id="rId5" action="ppaction://hlinksldjump"/>
          </p:cNvPr>
          <p:cNvSpPr/>
          <p:nvPr/>
        </p:nvSpPr>
        <p:spPr>
          <a:xfrm>
            <a:off x="3347864" y="4293096"/>
            <a:ext cx="3240360" cy="936104"/>
          </a:xfrm>
          <a:prstGeom prst="horizontalScrol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2200" dirty="0">
                <a:latin typeface="Monotype Corsiva" pitchFamily="66" charset="0"/>
              </a:rPr>
              <a:t>Çemberde Açılar</a:t>
            </a:r>
          </a:p>
        </p:txBody>
      </p:sp>
      <p:sp>
        <p:nvSpPr>
          <p:cNvPr id="10" name="Yatay Kaydırma 9">
            <a:hlinkClick r:id="rId6" action="ppaction://hlinksldjump"/>
          </p:cNvPr>
          <p:cNvSpPr/>
          <p:nvPr/>
        </p:nvSpPr>
        <p:spPr>
          <a:xfrm>
            <a:off x="4355976" y="5229200"/>
            <a:ext cx="3240360" cy="936104"/>
          </a:xfrm>
          <a:prstGeom prst="horizontalScrol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2200" dirty="0">
                <a:latin typeface="Monotype Corsiva" pitchFamily="66" charset="0"/>
              </a:rPr>
              <a:t>Alıştırmalar</a:t>
            </a:r>
          </a:p>
        </p:txBody>
      </p:sp>
    </p:spTree>
    <p:extLst>
      <p:ext uri="{BB962C8B-B14F-4D97-AF65-F5344CB8AC3E}">
        <p14:creationId xmlns:p14="http://schemas.microsoft.com/office/powerpoint/2010/main" val="833651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tr-TR" sz="3200" b="1" dirty="0">
                <a:latin typeface="Monotype Corsiva" pitchFamily="66" charset="0"/>
              </a:rPr>
              <a:t>ÇEMBERİN ÖZELLİKLERİ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tr-TR" dirty="0">
              <a:latin typeface="Monotype Corsiva" pitchFamily="66" charset="0"/>
            </a:endParaRPr>
          </a:p>
          <a:p>
            <a:r>
              <a:rPr lang="tr-TR" dirty="0">
                <a:latin typeface="Monotype Corsiva" pitchFamily="66" charset="0"/>
              </a:rPr>
              <a:t>Düzlemde sabit bir noktadan eşit uzaklıktaki noktalar kümesine </a:t>
            </a:r>
            <a:r>
              <a:rPr lang="tr-TR" b="1" dirty="0">
                <a:latin typeface="Monotype Corsiva" pitchFamily="66" charset="0"/>
              </a:rPr>
              <a:t>çember </a:t>
            </a:r>
            <a:r>
              <a:rPr lang="tr-TR" dirty="0">
                <a:latin typeface="Monotype Corsiva" pitchFamily="66" charset="0"/>
              </a:rPr>
              <a:t>denir.</a:t>
            </a:r>
          </a:p>
          <a:p>
            <a:endParaRPr lang="tr-TR" dirty="0">
              <a:latin typeface="Monotype Corsiva" pitchFamily="66" charset="0"/>
            </a:endParaRPr>
          </a:p>
          <a:p>
            <a:r>
              <a:rPr lang="tr-TR" dirty="0">
                <a:latin typeface="Monotype Corsiva" pitchFamily="66" charset="0"/>
              </a:rPr>
              <a:t> O noktasından r uzaklıktaki noktalar kümesi, O merkezli ve r yarıçaplı çemberdir.</a:t>
            </a:r>
          </a:p>
          <a:p>
            <a:endParaRPr lang="tr-TR" dirty="0">
              <a:latin typeface="Monotype Corsiva" pitchFamily="66" charset="0"/>
            </a:endParaRP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7" y="4365105"/>
            <a:ext cx="1819351" cy="180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4195737"/>
            <a:ext cx="2294308" cy="22575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47008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sz="2800" b="1" dirty="0">
                <a:latin typeface="Monotype Corsiva" pitchFamily="66" charset="0"/>
              </a:rPr>
              <a:t>ÇEMBERİN ÖZELLİKLERİ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tr-TR" dirty="0">
              <a:latin typeface="Monotype Corsiva" pitchFamily="66" charset="0"/>
            </a:endParaRPr>
          </a:p>
          <a:p>
            <a:r>
              <a:rPr lang="tr-TR" dirty="0">
                <a:latin typeface="Monotype Corsiva" pitchFamily="66" charset="0"/>
              </a:rPr>
              <a:t>Çember ile doğrunun bir noktaları ortak ise biri diğerine teğettir.</a:t>
            </a:r>
          </a:p>
          <a:p>
            <a:endParaRPr lang="tr-TR" dirty="0">
              <a:latin typeface="Monotype Corsiva" pitchFamily="66" charset="0"/>
            </a:endParaRPr>
          </a:p>
          <a:p>
            <a:r>
              <a:rPr lang="tr-TR" dirty="0">
                <a:latin typeface="Monotype Corsiva" pitchFamily="66" charset="0"/>
              </a:rPr>
              <a:t>Çemberin iki noktası arasında kalan parçasına </a:t>
            </a:r>
            <a:r>
              <a:rPr lang="tr-TR" b="1" u="sng" dirty="0">
                <a:latin typeface="Monotype Corsiva" pitchFamily="66" charset="0"/>
              </a:rPr>
              <a:t>çember yayı</a:t>
            </a:r>
            <a:r>
              <a:rPr lang="tr-TR" dirty="0">
                <a:latin typeface="Monotype Corsiva" pitchFamily="66" charset="0"/>
              </a:rPr>
              <a:t>, </a:t>
            </a:r>
            <a:r>
              <a:rPr lang="tr-TR" b="1" u="sng" dirty="0">
                <a:latin typeface="Monotype Corsiva" pitchFamily="66" charset="0"/>
              </a:rPr>
              <a:t>çember parçası</a:t>
            </a:r>
            <a:r>
              <a:rPr lang="tr-TR" dirty="0">
                <a:latin typeface="Monotype Corsiva" pitchFamily="66" charset="0"/>
              </a:rPr>
              <a:t> veya kısaca </a:t>
            </a:r>
            <a:r>
              <a:rPr lang="tr-TR" b="1" u="sng" dirty="0">
                <a:latin typeface="Monotype Corsiva" pitchFamily="66" charset="0"/>
              </a:rPr>
              <a:t>yay</a:t>
            </a:r>
            <a:r>
              <a:rPr lang="tr-TR" dirty="0">
                <a:latin typeface="Monotype Corsiva" pitchFamily="66" charset="0"/>
              </a:rPr>
              <a:t> denir. </a:t>
            </a:r>
          </a:p>
          <a:p>
            <a:endParaRPr lang="tr-TR" dirty="0">
              <a:latin typeface="Monotype Corsiva" pitchFamily="66" charset="0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4260852"/>
            <a:ext cx="1584176" cy="18176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7864" y="4725144"/>
            <a:ext cx="3477318" cy="6010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86015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sz="2800" b="1" dirty="0">
                <a:latin typeface="Monotype Corsiva" pitchFamily="66" charset="0"/>
              </a:rPr>
              <a:t>ÇEMBERİN ÖZELLİKLERİ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tr-TR" dirty="0">
              <a:latin typeface="Monotype Corsiva" pitchFamily="66" charset="0"/>
            </a:endParaRPr>
          </a:p>
          <a:p>
            <a:r>
              <a:rPr lang="tr-TR" dirty="0">
                <a:latin typeface="Monotype Corsiva" pitchFamily="66" charset="0"/>
              </a:rPr>
              <a:t>Bir kesenin çember içinde kalan parçasına </a:t>
            </a:r>
            <a:r>
              <a:rPr lang="tr-TR" i="1" u="sng" dirty="0">
                <a:latin typeface="Monotype Corsiva" pitchFamily="66" charset="0"/>
              </a:rPr>
              <a:t>kiriş</a:t>
            </a:r>
            <a:r>
              <a:rPr lang="tr-TR" dirty="0">
                <a:latin typeface="Monotype Corsiva" pitchFamily="66" charset="0"/>
              </a:rPr>
              <a:t> denir.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3333750"/>
            <a:ext cx="2837590" cy="15841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3928" y="3529257"/>
            <a:ext cx="3804815" cy="1193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Çentikli Sağ Ok 4">
            <a:hlinkClick r:id="rId4" action="ppaction://hlinksldjump"/>
          </p:cNvPr>
          <p:cNvSpPr/>
          <p:nvPr/>
        </p:nvSpPr>
        <p:spPr>
          <a:xfrm>
            <a:off x="6660232" y="5661248"/>
            <a:ext cx="1368152" cy="720080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37633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sz="2800" b="1" dirty="0">
                <a:latin typeface="Monotype Corsiva" pitchFamily="66" charset="0"/>
              </a:rPr>
              <a:t>ÇEMBERİN DÜZLEMDE AYIRDIĞI BÖLGELER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tr-TR" dirty="0">
              <a:latin typeface="Monotype Corsiva" pitchFamily="66" charset="0"/>
            </a:endParaRPr>
          </a:p>
          <a:p>
            <a:pPr marL="530225" indent="-265113"/>
            <a:r>
              <a:rPr lang="tr-TR" dirty="0">
                <a:latin typeface="Monotype Corsiva" pitchFamily="66" charset="0"/>
              </a:rPr>
              <a:t>A çemberin dış bölgesi</a:t>
            </a:r>
          </a:p>
          <a:p>
            <a:pPr marL="530225" indent="-265113"/>
            <a:endParaRPr lang="tr-TR" dirty="0">
              <a:latin typeface="Monotype Corsiva" pitchFamily="66" charset="0"/>
            </a:endParaRPr>
          </a:p>
          <a:p>
            <a:pPr marL="530225" indent="-265113"/>
            <a:r>
              <a:rPr lang="tr-TR" dirty="0">
                <a:latin typeface="Monotype Corsiva" pitchFamily="66" charset="0"/>
              </a:rPr>
              <a:t>B çemberin yarıçapı</a:t>
            </a:r>
          </a:p>
          <a:p>
            <a:pPr marL="530225" indent="-265113"/>
            <a:endParaRPr lang="tr-TR" dirty="0">
              <a:latin typeface="Monotype Corsiva" pitchFamily="66" charset="0"/>
            </a:endParaRPr>
          </a:p>
          <a:p>
            <a:pPr marL="530225" indent="-265113"/>
            <a:r>
              <a:rPr lang="tr-TR" dirty="0">
                <a:latin typeface="Monotype Corsiva" pitchFamily="66" charset="0"/>
              </a:rPr>
              <a:t>C çemberin iç bölgesi</a:t>
            </a:r>
          </a:p>
          <a:p>
            <a:pPr marL="530225" indent="-265113"/>
            <a:endParaRPr lang="tr-TR" dirty="0">
              <a:latin typeface="Monotype Corsiva" pitchFamily="66" charset="0"/>
            </a:endParaRPr>
          </a:p>
          <a:p>
            <a:pPr marL="530225" indent="-265113"/>
            <a:r>
              <a:rPr lang="tr-TR" dirty="0">
                <a:latin typeface="Monotype Corsiva" pitchFamily="66" charset="0"/>
              </a:rPr>
              <a:t>D çemberin üzeri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9992" y="2204864"/>
            <a:ext cx="2837296" cy="257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Çentikli Sağ Ok 4">
            <a:hlinkClick r:id="rId3" action="ppaction://hlinksldjump"/>
          </p:cNvPr>
          <p:cNvSpPr/>
          <p:nvPr/>
        </p:nvSpPr>
        <p:spPr>
          <a:xfrm>
            <a:off x="6660232" y="5661248"/>
            <a:ext cx="1368152" cy="720080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18134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b="1" dirty="0">
                <a:latin typeface="Monotype Corsiva" pitchFamily="66" charset="0"/>
              </a:rPr>
              <a:t>ÇEMBERİN DOĞRU İLE İLİŞKİSİ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tr-TR" dirty="0">
              <a:latin typeface="Monotype Corsiva" pitchFamily="66" charset="0"/>
            </a:endParaRPr>
          </a:p>
          <a:p>
            <a:r>
              <a:rPr lang="tr-TR" dirty="0">
                <a:latin typeface="Monotype Corsiva" pitchFamily="66" charset="0"/>
              </a:rPr>
              <a:t>Hiç ortak noktası olmayabilir.</a:t>
            </a:r>
          </a:p>
          <a:p>
            <a:endParaRPr lang="tr-TR" dirty="0">
              <a:latin typeface="Monotype Corsiva" pitchFamily="66" charset="0"/>
            </a:endParaRPr>
          </a:p>
          <a:p>
            <a:endParaRPr lang="tr-TR" dirty="0">
              <a:latin typeface="Monotype Corsiva" pitchFamily="66" charset="0"/>
            </a:endParaRPr>
          </a:p>
          <a:p>
            <a:r>
              <a:rPr lang="tr-TR" dirty="0">
                <a:latin typeface="Monotype Corsiva" pitchFamily="66" charset="0"/>
              </a:rPr>
              <a:t>Teğet geçebilir.</a:t>
            </a:r>
          </a:p>
          <a:p>
            <a:endParaRPr lang="tr-TR" dirty="0">
              <a:latin typeface="Monotype Corsiva" pitchFamily="66" charset="0"/>
            </a:endParaRPr>
          </a:p>
          <a:p>
            <a:endParaRPr lang="tr-TR" dirty="0">
              <a:latin typeface="Monotype Corsiva" pitchFamily="66" charset="0"/>
            </a:endParaRPr>
          </a:p>
          <a:p>
            <a:r>
              <a:rPr lang="tr-TR" dirty="0">
                <a:latin typeface="Monotype Corsiva" pitchFamily="66" charset="0"/>
              </a:rPr>
              <a:t>Herhangi iki noktayı kesebilir.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048" y="1772816"/>
            <a:ext cx="2448272" cy="11883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4545" y="3212975"/>
            <a:ext cx="2467775" cy="10967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2009" y="4707339"/>
            <a:ext cx="2800311" cy="11521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Çentikli Sağ Ok 6">
            <a:hlinkClick r:id="rId5" action="ppaction://hlinksldjump"/>
          </p:cNvPr>
          <p:cNvSpPr/>
          <p:nvPr/>
        </p:nvSpPr>
        <p:spPr>
          <a:xfrm>
            <a:off x="6660232" y="5805264"/>
            <a:ext cx="1368152" cy="720080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871801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b="1" dirty="0">
                <a:latin typeface="Monotype Corsiva" pitchFamily="66" charset="0"/>
              </a:rPr>
              <a:t>ÇEMBERDE AÇILAR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tr-TR" dirty="0">
              <a:latin typeface="Monotype Corsiva" pitchFamily="66" charset="0"/>
            </a:endParaRPr>
          </a:p>
          <a:p>
            <a:r>
              <a:rPr lang="tr-TR" dirty="0">
                <a:latin typeface="Monotype Corsiva" pitchFamily="66" charset="0"/>
              </a:rPr>
              <a:t>Merkez açının ölçüsü 0° ile 180°, çember yayları ise 0° ile 360° arasındadır. Merkez açının içinde kalan çember parçasına ise merkez açının gördüğü </a:t>
            </a:r>
            <a:r>
              <a:rPr lang="tr-TR" b="1" u="sng" dirty="0">
                <a:latin typeface="Monotype Corsiva" pitchFamily="66" charset="0"/>
              </a:rPr>
              <a:t>yay</a:t>
            </a:r>
            <a:r>
              <a:rPr lang="tr-TR" dirty="0">
                <a:latin typeface="Monotype Corsiva" pitchFamily="66" charset="0"/>
              </a:rPr>
              <a:t> denir.</a:t>
            </a:r>
          </a:p>
          <a:p>
            <a:endParaRPr lang="tr-TR" dirty="0">
              <a:latin typeface="Monotype Corsiva" pitchFamily="66" charset="0"/>
            </a:endParaRPr>
          </a:p>
          <a:p>
            <a:r>
              <a:rPr lang="tr-TR" dirty="0">
                <a:latin typeface="Monotype Corsiva" pitchFamily="66" charset="0"/>
              </a:rPr>
              <a:t>Merkez açının kenarlarının çemberi veya daireyi kestiği noktaların arasındaki yaylardan biri </a:t>
            </a:r>
            <a:r>
              <a:rPr lang="tr-TR" b="1" u="sng" dirty="0">
                <a:latin typeface="Monotype Corsiva" pitchFamily="66" charset="0"/>
              </a:rPr>
              <a:t>majör (büyük) çember</a:t>
            </a:r>
            <a:r>
              <a:rPr lang="tr-TR" b="1" dirty="0">
                <a:latin typeface="Monotype Corsiva" pitchFamily="66" charset="0"/>
              </a:rPr>
              <a:t> </a:t>
            </a:r>
            <a:r>
              <a:rPr lang="tr-TR" dirty="0">
                <a:latin typeface="Monotype Corsiva" pitchFamily="66" charset="0"/>
              </a:rPr>
              <a:t>yayı, diğeri </a:t>
            </a:r>
            <a:r>
              <a:rPr lang="tr-TR" b="1" u="sng" dirty="0">
                <a:latin typeface="Monotype Corsiva" pitchFamily="66" charset="0"/>
              </a:rPr>
              <a:t>minör (küçük) çember</a:t>
            </a:r>
            <a:r>
              <a:rPr lang="tr-TR" b="1" dirty="0">
                <a:latin typeface="Monotype Corsiva" pitchFamily="66" charset="0"/>
              </a:rPr>
              <a:t> </a:t>
            </a:r>
            <a:r>
              <a:rPr lang="tr-TR" dirty="0">
                <a:latin typeface="Monotype Corsiva" pitchFamily="66" charset="0"/>
              </a:rPr>
              <a:t>yayıdır. Merkez açının gördüğü yay </a:t>
            </a:r>
            <a:r>
              <a:rPr lang="tr-TR" b="1" u="sng" dirty="0">
                <a:latin typeface="Monotype Corsiva" pitchFamily="66" charset="0"/>
              </a:rPr>
              <a:t>minör yay</a:t>
            </a:r>
            <a:r>
              <a:rPr lang="tr-TR" b="1" dirty="0">
                <a:latin typeface="Monotype Corsiva" pitchFamily="66" charset="0"/>
              </a:rPr>
              <a:t> </a:t>
            </a:r>
            <a:r>
              <a:rPr lang="tr-TR" dirty="0">
                <a:latin typeface="Monotype Corsiva" pitchFamily="66" charset="0"/>
              </a:rPr>
              <a:t>olmalıdır.</a:t>
            </a:r>
          </a:p>
          <a:p>
            <a:endParaRPr lang="tr-TR" dirty="0">
              <a:latin typeface="Monotype Corsiva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4153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b="1" dirty="0">
                <a:latin typeface="Monotype Corsiva" pitchFamily="66" charset="0"/>
              </a:rPr>
              <a:t>ÇEMBERDE AÇILAR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tr-TR" dirty="0"/>
          </a:p>
          <a:p>
            <a:endParaRPr lang="tr-TR" dirty="0"/>
          </a:p>
          <a:p>
            <a:r>
              <a:rPr lang="tr-TR" dirty="0">
                <a:latin typeface="Monotype Corsiva" pitchFamily="66" charset="0"/>
              </a:rPr>
              <a:t>Köşesi çemberin merkezi olan açıya </a:t>
            </a:r>
            <a:r>
              <a:rPr lang="tr-TR" b="1" u="sng" dirty="0">
                <a:latin typeface="Monotype Corsiva" pitchFamily="66" charset="0"/>
              </a:rPr>
              <a:t>merkez açı</a:t>
            </a:r>
            <a:r>
              <a:rPr lang="tr-TR" b="1" dirty="0">
                <a:latin typeface="Monotype Corsiva" pitchFamily="66" charset="0"/>
              </a:rPr>
              <a:t> </a:t>
            </a:r>
            <a:r>
              <a:rPr lang="tr-TR" dirty="0">
                <a:latin typeface="Monotype Corsiva" pitchFamily="66" charset="0"/>
              </a:rPr>
              <a:t>denir.</a:t>
            </a:r>
            <a:r>
              <a:rPr lang="tr-TR" dirty="0"/>
              <a:t> </a:t>
            </a:r>
          </a:p>
          <a:p>
            <a:endParaRPr lang="tr-TR" dirty="0"/>
          </a:p>
          <a:p>
            <a:endParaRPr lang="tr-TR" dirty="0"/>
          </a:p>
          <a:p>
            <a:pPr marL="0" indent="0">
              <a:buNone/>
            </a:pPr>
            <a:endParaRPr lang="tr-TR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136" y="3429000"/>
            <a:ext cx="1695623" cy="18155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4010968"/>
            <a:ext cx="4508524" cy="3541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91616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b="1" dirty="0">
                <a:latin typeface="Monotype Corsiva" pitchFamily="66" charset="0"/>
              </a:rPr>
              <a:t>ÇEMBERDE AÇILAR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tr-TR" dirty="0">
              <a:latin typeface="Monotype Corsiva" pitchFamily="66" charset="0"/>
            </a:endParaRPr>
          </a:p>
          <a:p>
            <a:r>
              <a:rPr lang="tr-TR" dirty="0">
                <a:latin typeface="Monotype Corsiva" pitchFamily="66" charset="0"/>
              </a:rPr>
              <a:t>Köşesi çemberin üzerinde bulunan açıya </a:t>
            </a:r>
            <a:r>
              <a:rPr lang="tr-TR" b="1" u="sng" dirty="0">
                <a:latin typeface="Monotype Corsiva" pitchFamily="66" charset="0"/>
              </a:rPr>
              <a:t>çevre açı</a:t>
            </a:r>
            <a:r>
              <a:rPr lang="tr-TR" b="1" dirty="0">
                <a:latin typeface="Monotype Corsiva" pitchFamily="66" charset="0"/>
              </a:rPr>
              <a:t> </a:t>
            </a:r>
            <a:r>
              <a:rPr lang="tr-TR" dirty="0">
                <a:latin typeface="Monotype Corsiva" pitchFamily="66" charset="0"/>
              </a:rPr>
              <a:t>denir.</a:t>
            </a:r>
          </a:p>
          <a:p>
            <a:endParaRPr lang="tr-TR" dirty="0">
              <a:latin typeface="Monotype Corsiva" pitchFamily="66" charset="0"/>
            </a:endParaRPr>
          </a:p>
          <a:p>
            <a:r>
              <a:rPr lang="tr-TR" dirty="0">
                <a:latin typeface="Monotype Corsiva" pitchFamily="66" charset="0"/>
              </a:rPr>
              <a:t>Çevre açının içinde kalan çember parçasına </a:t>
            </a:r>
            <a:r>
              <a:rPr lang="tr-TR" b="1" u="sng" dirty="0">
                <a:latin typeface="Monotype Corsiva" pitchFamily="66" charset="0"/>
              </a:rPr>
              <a:t>çevre açının gördüğü yay</a:t>
            </a:r>
            <a:r>
              <a:rPr lang="tr-TR" b="1" dirty="0">
                <a:latin typeface="Monotype Corsiva" pitchFamily="66" charset="0"/>
              </a:rPr>
              <a:t> </a:t>
            </a:r>
            <a:r>
              <a:rPr lang="tr-TR" dirty="0">
                <a:latin typeface="Monotype Corsiva" pitchFamily="66" charset="0"/>
              </a:rPr>
              <a:t>denir.</a:t>
            </a:r>
          </a:p>
          <a:p>
            <a:pPr marL="0" indent="0">
              <a:buNone/>
            </a:pPr>
            <a:endParaRPr lang="tr-TR" dirty="0">
              <a:latin typeface="Monotype Corsiva" pitchFamily="66" charset="0"/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6096" y="3956307"/>
            <a:ext cx="1498649" cy="1454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4437112"/>
            <a:ext cx="3929499" cy="4933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Çentikli Sağ Ok 5">
            <a:hlinkClick r:id="rId4" action="ppaction://hlinksldjump"/>
          </p:cNvPr>
          <p:cNvSpPr/>
          <p:nvPr/>
        </p:nvSpPr>
        <p:spPr>
          <a:xfrm>
            <a:off x="6660232" y="5661248"/>
            <a:ext cx="1368152" cy="720080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82056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b="1" dirty="0">
                <a:latin typeface="Monotype Corsiva" pitchFamily="66" charset="0"/>
              </a:rPr>
              <a:t>ÇEMBERDE AÇILAR</a:t>
            </a:r>
            <a:r>
              <a:rPr lang="tr-TR" dirty="0"/>
              <a:t> </a:t>
            </a:r>
            <a:endParaRPr lang="tr-TR" sz="3200" dirty="0">
              <a:latin typeface="Monotype Corsiva" pitchFamily="66" charset="0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tr-TR" b="1" dirty="0">
                <a:latin typeface="Monotype Corsiva" pitchFamily="66" charset="0"/>
              </a:rPr>
              <a:t>Aynı Yayı Gören Merkez Açı ile Çevre Açı Arasındaki İlişki</a:t>
            </a:r>
            <a:endParaRPr lang="tr-TR" dirty="0">
              <a:latin typeface="Monotype Corsiva" pitchFamily="66" charset="0"/>
            </a:endParaRPr>
          </a:p>
          <a:p>
            <a:pPr marL="0" indent="0">
              <a:buNone/>
            </a:pPr>
            <a:endParaRPr lang="tr-TR" b="1" dirty="0">
              <a:latin typeface="Monotype Corsiva" pitchFamily="66" charset="0"/>
            </a:endParaRPr>
          </a:p>
          <a:p>
            <a:r>
              <a:rPr lang="tr-TR" dirty="0">
                <a:latin typeface="Monotype Corsiva" pitchFamily="66" charset="0"/>
              </a:rPr>
              <a:t>Bir çevre açının ölçüsü, aynı yayı gören merkez açının ölçüsünün </a:t>
            </a:r>
            <a:r>
              <a:rPr lang="tr-TR" b="1" u="sng" dirty="0">
                <a:latin typeface="Monotype Corsiva" pitchFamily="66" charset="0"/>
              </a:rPr>
              <a:t>yarısına</a:t>
            </a:r>
            <a:r>
              <a:rPr lang="tr-TR" dirty="0">
                <a:latin typeface="Monotype Corsiva" pitchFamily="66" charset="0"/>
              </a:rPr>
              <a:t> eşittir.</a:t>
            </a:r>
          </a:p>
          <a:p>
            <a:endParaRPr lang="tr-TR" dirty="0">
              <a:latin typeface="Monotype Corsiva" pitchFamily="66" charset="0"/>
            </a:endParaRPr>
          </a:p>
          <a:p>
            <a:endParaRPr lang="tr-TR" dirty="0">
              <a:latin typeface="Monotype Corsiva" pitchFamily="66" charset="0"/>
            </a:endParaRPr>
          </a:p>
          <a:p>
            <a:endParaRPr lang="tr-TR" dirty="0">
              <a:latin typeface="Monotype Corsiva" pitchFamily="66" charset="0"/>
            </a:endParaRPr>
          </a:p>
          <a:p>
            <a:endParaRPr lang="tr-TR" dirty="0">
              <a:latin typeface="Monotype Corsiva" pitchFamily="66" charset="0"/>
            </a:endParaRPr>
          </a:p>
          <a:p>
            <a:r>
              <a:rPr lang="tr-TR" dirty="0">
                <a:latin typeface="Monotype Corsiva" pitchFamily="66" charset="0"/>
              </a:rPr>
              <a:t>Merkez açı, doğru açı ise gördüğü yaya </a:t>
            </a:r>
            <a:r>
              <a:rPr lang="tr-TR" b="1" u="sng" dirty="0">
                <a:latin typeface="Monotype Corsiva" pitchFamily="66" charset="0"/>
              </a:rPr>
              <a:t>yarım çember yayı </a:t>
            </a:r>
            <a:r>
              <a:rPr lang="tr-TR" dirty="0">
                <a:latin typeface="Monotype Corsiva" pitchFamily="66" charset="0"/>
              </a:rPr>
              <a:t>ya da </a:t>
            </a:r>
            <a:r>
              <a:rPr lang="tr-TR" b="1" u="sng" dirty="0">
                <a:latin typeface="Monotype Corsiva" pitchFamily="66" charset="0"/>
              </a:rPr>
              <a:t>yarım çember</a:t>
            </a:r>
            <a:r>
              <a:rPr lang="tr-TR" dirty="0">
                <a:latin typeface="Monotype Corsiva" pitchFamily="66" charset="0"/>
              </a:rPr>
              <a:t> denir.</a:t>
            </a:r>
            <a:r>
              <a:rPr lang="tr-TR" dirty="0"/>
              <a:t> </a:t>
            </a:r>
            <a:endParaRPr lang="tr-TR" dirty="0">
              <a:latin typeface="Monotype Corsiva" pitchFamily="66" charset="0"/>
            </a:endParaRPr>
          </a:p>
          <a:p>
            <a:endParaRPr lang="tr-TR" dirty="0">
              <a:latin typeface="Monotype Corsiva" pitchFamily="66" charset="0"/>
            </a:endParaRP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3864" y="3606587"/>
            <a:ext cx="4203840" cy="13220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158" y="3606587"/>
            <a:ext cx="3444719" cy="13980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75440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b="1" dirty="0">
                <a:latin typeface="Monotype Corsiva" pitchFamily="66" charset="0"/>
              </a:rPr>
              <a:t>ALIŞTIRMALAR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tr-TR" dirty="0">
                <a:latin typeface="Monotype Corsiva" pitchFamily="66" charset="0"/>
              </a:rPr>
              <a:t>? İle gösterilen açı kaç derecedir bulalım.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2420888"/>
            <a:ext cx="1896789" cy="2187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78390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b="1" dirty="0">
                <a:latin typeface="Monotype Corsiva" pitchFamily="66" charset="0"/>
              </a:rPr>
              <a:t>ALIŞTIRMALAR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tr-TR" dirty="0"/>
          </a:p>
          <a:p>
            <a:r>
              <a:rPr lang="tr-TR" dirty="0"/>
              <a:t> </a:t>
            </a: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168" y="1844823"/>
            <a:ext cx="2016224" cy="1917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0500" y="2096281"/>
            <a:ext cx="4677110" cy="5029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12923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b="1" dirty="0">
                <a:latin typeface="Monotype Corsiva" pitchFamily="66" charset="0"/>
              </a:rPr>
              <a:t>ALIŞTIRMALAR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tr-TR" dirty="0"/>
          </a:p>
          <a:p>
            <a:r>
              <a:rPr lang="tr-TR" dirty="0"/>
              <a:t> </a:t>
            </a: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2132854"/>
            <a:ext cx="2664296" cy="4167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1174" y="1988840"/>
            <a:ext cx="2201106" cy="19684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0387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tr-TR" sz="3200" b="1" dirty="0">
                <a:latin typeface="Monotype Corsiva" pitchFamily="66" charset="0"/>
              </a:rPr>
              <a:t>KAZANIMLAR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tr-TR" dirty="0">
              <a:latin typeface="Monotype Corsiva" pitchFamily="66" charset="0"/>
            </a:endParaRPr>
          </a:p>
          <a:p>
            <a:r>
              <a:rPr lang="tr-TR" dirty="0">
                <a:latin typeface="Monotype Corsiva" pitchFamily="66" charset="0"/>
              </a:rPr>
              <a:t>Çemberin özelliklerini belirler ve çember modeli inşa eder.</a:t>
            </a:r>
          </a:p>
          <a:p>
            <a:endParaRPr lang="tr-TR" dirty="0">
              <a:latin typeface="Monotype Corsiva" pitchFamily="66" charset="0"/>
            </a:endParaRPr>
          </a:p>
          <a:p>
            <a:r>
              <a:rPr lang="tr-TR" dirty="0">
                <a:latin typeface="Monotype Corsiva" pitchFamily="66" charset="0"/>
              </a:rPr>
              <a:t>Çemberin düzlemde ayırdığı bölgeleri belirler.</a:t>
            </a:r>
          </a:p>
          <a:p>
            <a:endParaRPr lang="tr-TR" dirty="0">
              <a:latin typeface="Monotype Corsiva" pitchFamily="66" charset="0"/>
            </a:endParaRPr>
          </a:p>
          <a:p>
            <a:r>
              <a:rPr lang="tr-TR" dirty="0">
                <a:latin typeface="Monotype Corsiva" pitchFamily="66" charset="0"/>
              </a:rPr>
              <a:t>Çember ile doğrunun ilişkisini belirler.</a:t>
            </a:r>
          </a:p>
        </p:txBody>
      </p:sp>
    </p:spTree>
    <p:extLst>
      <p:ext uri="{BB962C8B-B14F-4D97-AF65-F5344CB8AC3E}">
        <p14:creationId xmlns:p14="http://schemas.microsoft.com/office/powerpoint/2010/main" val="2289750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sz="3200" b="1" dirty="0">
                <a:latin typeface="Monotype Corsiva" pitchFamily="66" charset="0"/>
              </a:rPr>
              <a:t>KAZANIMLAR</a:t>
            </a:r>
            <a:endParaRPr lang="tr-TR" sz="3200" dirty="0"/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tr-TR" dirty="0">
              <a:latin typeface="Monotype Corsiva" pitchFamily="66" charset="0"/>
            </a:endParaRPr>
          </a:p>
          <a:p>
            <a:r>
              <a:rPr lang="tr-TR" dirty="0">
                <a:latin typeface="Monotype Corsiva" pitchFamily="66" charset="0"/>
              </a:rPr>
              <a:t>Çember veya dairede merkez açı ve çevre açı ile bu açıların gördüğü yayları belirler.</a:t>
            </a:r>
          </a:p>
          <a:p>
            <a:endParaRPr lang="tr-TR" dirty="0">
              <a:latin typeface="Monotype Corsiva" pitchFamily="66" charset="0"/>
            </a:endParaRPr>
          </a:p>
          <a:p>
            <a:r>
              <a:rPr lang="tr-TR" dirty="0">
                <a:latin typeface="Monotype Corsiva" pitchFamily="66" charset="0"/>
              </a:rPr>
              <a:t>Aynı yayı gören merkez açının ölçüsü ile çevre açının ölçüsü arasındaki ilişkiyi belirler.</a:t>
            </a:r>
          </a:p>
        </p:txBody>
      </p:sp>
    </p:spTree>
    <p:extLst>
      <p:ext uri="{BB962C8B-B14F-4D97-AF65-F5344CB8AC3E}">
        <p14:creationId xmlns:p14="http://schemas.microsoft.com/office/powerpoint/2010/main" val="2611898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tr-TR" sz="3200" b="1" dirty="0">
                <a:latin typeface="Monotype Corsiva" pitchFamily="66" charset="0"/>
              </a:rPr>
              <a:t>KAYNAKÇA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tr-TR" dirty="0">
              <a:hlinkClick r:id="rId2"/>
            </a:endParaRPr>
          </a:p>
          <a:p>
            <a:r>
              <a:rPr lang="tr-TR" dirty="0">
                <a:hlinkClick r:id="rId2"/>
              </a:rPr>
              <a:t>http://matematik-canavari.blogspot.com</a:t>
            </a:r>
            <a:endParaRPr lang="tr-TR" dirty="0"/>
          </a:p>
          <a:p>
            <a:endParaRPr lang="tr-TR" dirty="0"/>
          </a:p>
          <a:p>
            <a:r>
              <a:rPr lang="tr-TR" dirty="0">
                <a:hlinkClick r:id="rId3"/>
              </a:rPr>
              <a:t>http://www.calisma-kitabi.com</a:t>
            </a:r>
            <a:endParaRPr lang="tr-TR" dirty="0"/>
          </a:p>
          <a:p>
            <a:endParaRPr lang="tr-TR" dirty="0"/>
          </a:p>
          <a:p>
            <a:r>
              <a:rPr lang="tr-TR" dirty="0">
                <a:hlinkClick r:id="rId4"/>
              </a:rPr>
              <a:t>http://ttkb.meb.gov.tr/</a:t>
            </a:r>
            <a:r>
              <a:rPr lang="tr-T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29507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umba">
  <a:themeElements>
    <a:clrScheme name="Zengin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Cumba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Cumba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129</TotalTime>
  <Words>354</Words>
  <Application>Microsoft Office PowerPoint</Application>
  <PresentationFormat>Ekran Gösterisi (4:3)</PresentationFormat>
  <Paragraphs>89</Paragraphs>
  <Slides>17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17</vt:i4>
      </vt:variant>
    </vt:vector>
  </HeadingPairs>
  <TitlesOfParts>
    <vt:vector size="22" baseType="lpstr">
      <vt:lpstr>Century Schoolbook</vt:lpstr>
      <vt:lpstr>Monotype Corsiva</vt:lpstr>
      <vt:lpstr>Wingdings</vt:lpstr>
      <vt:lpstr>Wingdings 2</vt:lpstr>
      <vt:lpstr>Cumba</vt:lpstr>
      <vt:lpstr>ÇEMBER VE DAİRE</vt:lpstr>
      <vt:lpstr>İÇİNDEKİLER</vt:lpstr>
      <vt:lpstr>ÇEMBERİN ÖZELLİKLERİ</vt:lpstr>
      <vt:lpstr>ÇEMBERİN ÖZELLİKLERİ</vt:lpstr>
      <vt:lpstr>ÇEMBERİN ÖZELLİKLERİ</vt:lpstr>
      <vt:lpstr>ÇEMBERİN DÜZLEMDE AYIRDIĞI BÖLGELER</vt:lpstr>
      <vt:lpstr>ÇEMBERİN DOĞRU İLE İLİŞKİSİ</vt:lpstr>
      <vt:lpstr>ÇEMBERDE AÇILAR</vt:lpstr>
      <vt:lpstr>ÇEMBERDE AÇILAR</vt:lpstr>
      <vt:lpstr>ÇEMBERDE AÇILAR</vt:lpstr>
      <vt:lpstr>ÇEMBERDE AÇILAR </vt:lpstr>
      <vt:lpstr>ALIŞTIRMALAR</vt:lpstr>
      <vt:lpstr>ALIŞTIRMALAR</vt:lpstr>
      <vt:lpstr>ALIŞTIRMALAR</vt:lpstr>
      <vt:lpstr>KAZANIMLAR</vt:lpstr>
      <vt:lpstr>KAZANIMLAR</vt:lpstr>
      <vt:lpstr>KAYNAKÇA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MeL A</dc:creator>
  <cp:lastModifiedBy>Sibel Killi</cp:lastModifiedBy>
  <cp:revision>14</cp:revision>
  <dcterms:created xsi:type="dcterms:W3CDTF">2013-03-14T19:35:05Z</dcterms:created>
  <dcterms:modified xsi:type="dcterms:W3CDTF">2022-04-11T09:33:26Z</dcterms:modified>
</cp:coreProperties>
</file>