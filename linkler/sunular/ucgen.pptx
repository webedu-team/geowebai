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2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5" Type="http://schemas.openxmlformats.org/officeDocument/2006/relationships/slide" Target="slide17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8.xml"/><Relationship Id="rId7" Type="http://schemas.openxmlformats.org/officeDocument/2006/relationships/slide" Target="slide12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Relationship Id="rId4" Type="http://schemas.openxmlformats.org/officeDocument/2006/relationships/slide" Target="slid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tr-TR" sz="4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ÜÇGENLER</a:t>
            </a:r>
          </a:p>
        </p:txBody>
      </p:sp>
    </p:spTree>
    <p:extLst>
      <p:ext uri="{BB962C8B-B14F-4D97-AF65-F5344CB8AC3E}">
        <p14:creationId xmlns:p14="http://schemas.microsoft.com/office/powerpoint/2010/main" val="178628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dirty="0">
                <a:latin typeface="+mj-lt"/>
                <a:hlinkClick r:id="rId2" action="ppaction://hlinksldjump"/>
              </a:rPr>
              <a:t>ÜÇGEN NEDİR</a:t>
            </a:r>
            <a:endParaRPr lang="tr-TR" sz="2800" dirty="0">
              <a:latin typeface="+mj-lt"/>
            </a:endParaRPr>
          </a:p>
          <a:p>
            <a:r>
              <a:rPr lang="tr-TR" sz="2800" dirty="0">
                <a:latin typeface="+mj-lt"/>
                <a:hlinkClick r:id="rId3" action="ppaction://hlinksldjump"/>
              </a:rPr>
              <a:t>ÜÇGEN ÇESİTLERİ</a:t>
            </a:r>
            <a:endParaRPr lang="tr-TR" sz="2800" dirty="0">
              <a:latin typeface="+mj-lt"/>
            </a:endParaRPr>
          </a:p>
          <a:p>
            <a:pPr lvl="0"/>
            <a:r>
              <a:rPr lang="tr-TR" sz="2800" dirty="0">
                <a:latin typeface="+mj-lt"/>
                <a:hlinkClick r:id="rId4" action="ppaction://hlinksldjump"/>
              </a:rPr>
              <a:t>ÜÇGENİN TEMEL ve YARDIMCI ELEMANLARI</a:t>
            </a:r>
            <a:endParaRPr lang="tr-TR" sz="2800" dirty="0">
              <a:latin typeface="+mj-lt"/>
            </a:endParaRPr>
          </a:p>
          <a:p>
            <a:r>
              <a:rPr lang="tr-TR" sz="2800" dirty="0">
                <a:latin typeface="+mj-lt"/>
                <a:hlinkClick r:id="rId5" action="ppaction://hlinksldjump"/>
              </a:rPr>
              <a:t>ÜÇGENDE AÇI ÖZELLİKLERİ</a:t>
            </a:r>
            <a:endParaRPr lang="tr-TR" sz="2800" dirty="0">
              <a:latin typeface="+mj-lt"/>
            </a:endParaRPr>
          </a:p>
          <a:p>
            <a:pPr lvl="0"/>
            <a:r>
              <a:rPr lang="tr-TR" sz="2800" dirty="0">
                <a:latin typeface="+mj-lt"/>
                <a:hlinkClick r:id="rId6" action="ppaction://hlinksldjump"/>
              </a:rPr>
              <a:t>ÜÇGENDE AÇIORTAYLAR</a:t>
            </a:r>
            <a:endParaRPr lang="tr-TR" sz="2800" dirty="0">
              <a:latin typeface="+mj-lt"/>
            </a:endParaRPr>
          </a:p>
          <a:p>
            <a:pPr lvl="0"/>
            <a:r>
              <a:rPr lang="tr-TR" sz="2800" dirty="0">
                <a:latin typeface="+mj-lt"/>
                <a:hlinkClick r:id="rId7" action="ppaction://hlinksldjump"/>
              </a:rPr>
              <a:t>ÜÇGENDE BAĞINTILAR</a:t>
            </a:r>
            <a:endParaRPr lang="tr-TR" sz="2800" dirty="0">
              <a:latin typeface="+mj-lt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5699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ÜÇGEN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i="1" dirty="0"/>
              <a:t>Doğrusal olmayan üç noktayı birleştiren üç doğru parçasının birleşimine üçgen denir.</a:t>
            </a:r>
            <a:endParaRPr lang="tr-TR" sz="2800" dirty="0"/>
          </a:p>
          <a:p>
            <a:pPr marL="0" indent="0">
              <a:buNone/>
            </a:pPr>
            <a:r>
              <a:rPr lang="tr-TR" sz="2800" dirty="0"/>
              <a:t>     </a:t>
            </a:r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140968"/>
            <a:ext cx="3240360" cy="2808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987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1143000"/>
          </a:xfrm>
        </p:spPr>
        <p:txBody>
          <a:bodyPr>
            <a:normAutofit/>
          </a:bodyPr>
          <a:lstStyle/>
          <a:p>
            <a:r>
              <a:rPr lang="tr-TR" sz="3200" dirty="0"/>
              <a:t>ÜÇGENDE İÇ VE DIŞ AÇI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>
            <a:normAutofit/>
          </a:bodyPr>
          <a:lstStyle/>
          <a:p>
            <a:r>
              <a:rPr lang="tr-TR" sz="2800" i="1" dirty="0"/>
              <a:t>BAC, ABC ve ACB açıları üçgenin iç açılarıdır</a:t>
            </a: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140968"/>
            <a:ext cx="3240360" cy="2808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850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İç  açıların bütünleri olan açılara dış açılar denir. </a:t>
            </a:r>
          </a:p>
          <a:p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624137"/>
            <a:ext cx="4032448" cy="33971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Komut Düğmesi: Geri veya Önceki 5">
            <a:hlinkClick r:id="rId3" action="ppaction://hlinksldjump" highlightClick="1"/>
          </p:cNvPr>
          <p:cNvSpPr/>
          <p:nvPr/>
        </p:nvSpPr>
        <p:spPr>
          <a:xfrm>
            <a:off x="8101584" y="5807231"/>
            <a:ext cx="1042416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8239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ÜÇGEN ÇEŞİTLERİ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862320"/>
            <a:ext cx="8229600" cy="4309939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tr-TR" sz="2800" dirty="0"/>
              <a:t>Kenarlarına göre üçgen çeşitleri</a:t>
            </a:r>
          </a:p>
          <a:p>
            <a:pPr marL="0" indent="0">
              <a:buNone/>
            </a:pPr>
            <a:r>
              <a:rPr lang="tr-TR" sz="2800" dirty="0">
                <a:hlinkClick r:id="rId2" action="ppaction://hlinksldjump"/>
              </a:rPr>
              <a:t>a) Çeşitkenar üçgen </a:t>
            </a:r>
            <a:br>
              <a:rPr lang="tr-TR" sz="2800" dirty="0">
                <a:hlinkClick r:id="rId2" action="ppaction://hlinksldjump"/>
              </a:rPr>
            </a:br>
            <a:r>
              <a:rPr lang="tr-TR" sz="2800" dirty="0">
                <a:hlinkClick r:id="rId3" action="ppaction://hlinksldjump"/>
              </a:rPr>
              <a:t>b) İkizkenar Üçgen</a:t>
            </a:r>
            <a:r>
              <a:rPr lang="tr-TR" sz="2800" i="1" dirty="0"/>
              <a:t> </a:t>
            </a:r>
            <a:endParaRPr lang="tr-TR" sz="2800" dirty="0"/>
          </a:p>
          <a:p>
            <a:pPr marL="0" indent="0">
              <a:buNone/>
            </a:pPr>
            <a:r>
              <a:rPr lang="tr-TR" sz="2800" dirty="0">
                <a:hlinkClick r:id="rId4" action="ppaction://hlinksldjump"/>
              </a:rPr>
              <a:t>c)</a:t>
            </a:r>
            <a:r>
              <a:rPr lang="tr-TR" sz="2800" i="1" dirty="0">
                <a:hlinkClick r:id="rId4" action="ppaction://hlinksldjump"/>
              </a:rPr>
              <a:t> Eşkenar Üçgen</a:t>
            </a:r>
            <a:r>
              <a:rPr lang="tr-TR" sz="2800" i="1" dirty="0"/>
              <a:t> </a:t>
            </a:r>
          </a:p>
          <a:p>
            <a:pPr marL="0" indent="0">
              <a:buNone/>
            </a:pPr>
            <a:r>
              <a:rPr lang="tr-TR" sz="2800" dirty="0"/>
              <a:t>2.</a:t>
            </a:r>
            <a:r>
              <a:rPr lang="tr-TR" sz="2800" i="1" dirty="0"/>
              <a:t> </a:t>
            </a:r>
            <a:r>
              <a:rPr lang="tr-TR" sz="2800" dirty="0"/>
              <a:t>Açılarına göre üçgenler</a:t>
            </a:r>
            <a:br>
              <a:rPr lang="tr-TR" sz="2800" dirty="0"/>
            </a:br>
            <a:endParaRPr lang="tr-TR" sz="2800" dirty="0"/>
          </a:p>
          <a:p>
            <a:pPr marL="0" indent="0">
              <a:buNone/>
            </a:pPr>
            <a:r>
              <a:rPr lang="tr-TR" sz="2800" dirty="0">
                <a:hlinkClick r:id="rId5" action="ppaction://hlinksldjump"/>
              </a:rPr>
              <a:t>a)</a:t>
            </a:r>
            <a:r>
              <a:rPr lang="tr-TR" sz="2800" i="1" dirty="0">
                <a:hlinkClick r:id="rId5" action="ppaction://hlinksldjump"/>
              </a:rPr>
              <a:t> </a:t>
            </a:r>
            <a:r>
              <a:rPr lang="tr-TR" sz="2800" dirty="0">
                <a:hlinkClick r:id="rId5" action="ppaction://hlinksldjump"/>
              </a:rPr>
              <a:t>Dar açılı üçgen</a:t>
            </a:r>
            <a:r>
              <a:rPr lang="tr-TR" sz="2800" dirty="0"/>
              <a:t> </a:t>
            </a:r>
          </a:p>
          <a:p>
            <a:pPr marL="0" indent="0">
              <a:buNone/>
            </a:pPr>
            <a:r>
              <a:rPr lang="tr-TR" sz="2800" dirty="0">
                <a:hlinkClick r:id="rId6" action="ppaction://hlinksldjump"/>
              </a:rPr>
              <a:t>b)</a:t>
            </a:r>
            <a:r>
              <a:rPr lang="tr-TR" sz="2800" i="1" dirty="0">
                <a:hlinkClick r:id="rId6" action="ppaction://hlinksldjump"/>
              </a:rPr>
              <a:t> </a:t>
            </a:r>
            <a:r>
              <a:rPr lang="tr-TR" sz="2800" dirty="0">
                <a:hlinkClick r:id="rId6" action="ppaction://hlinksldjump"/>
              </a:rPr>
              <a:t>Dik açılı üçgen </a:t>
            </a:r>
            <a:endParaRPr lang="tr-TR" sz="2800" dirty="0"/>
          </a:p>
          <a:p>
            <a:pPr marL="0" indent="0">
              <a:buNone/>
            </a:pPr>
            <a:r>
              <a:rPr lang="tr-TR" sz="2800" dirty="0">
                <a:hlinkClick r:id="rId7" action="ppaction://hlinksldjump"/>
              </a:rPr>
              <a:t>c)</a:t>
            </a:r>
            <a:r>
              <a:rPr lang="tr-TR" sz="2800" i="1" dirty="0">
                <a:hlinkClick r:id="rId7" action="ppaction://hlinksldjump"/>
              </a:rPr>
              <a:t> </a:t>
            </a:r>
            <a:r>
              <a:rPr lang="tr-TR" sz="2800" dirty="0">
                <a:hlinkClick r:id="rId7" action="ppaction://hlinksldjump"/>
              </a:rPr>
              <a:t>Geniş açılı üçgen </a:t>
            </a:r>
            <a:br>
              <a:rPr lang="tr-TR" sz="2800" dirty="0">
                <a:hlinkClick r:id="rId7" action="ppaction://hlinksldjump"/>
              </a:rPr>
            </a:b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</p:txBody>
      </p:sp>
      <p:sp>
        <p:nvSpPr>
          <p:cNvPr id="4" name="Komut Düğmesi: Geri veya Önceki 3">
            <a:hlinkClick r:id="rId8" action="ppaction://hlinksldjump" highlightClick="1"/>
          </p:cNvPr>
          <p:cNvSpPr/>
          <p:nvPr/>
        </p:nvSpPr>
        <p:spPr>
          <a:xfrm>
            <a:off x="7956376" y="5661248"/>
            <a:ext cx="1042416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802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a)Çeşitkenar üçgen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dirty="0"/>
              <a:t>Üç kenar uzunlukları da farklı olan üçgenlere denir.</a:t>
            </a:r>
            <a:br>
              <a:rPr lang="tr-TR" sz="2800" dirty="0"/>
            </a:br>
            <a:br>
              <a:rPr lang="tr-TR" dirty="0"/>
            </a:br>
            <a:endParaRPr lang="tr-TR" dirty="0"/>
          </a:p>
        </p:txBody>
      </p:sp>
      <p:pic>
        <p:nvPicPr>
          <p:cNvPr id="6" name="Resim 5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867024"/>
            <a:ext cx="3384376" cy="27942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Komut Düğmesi: Geri veya Önceki 6">
            <a:hlinkClick r:id="rId3" action="ppaction://hlinksldjump" highlightClick="1"/>
          </p:cNvPr>
          <p:cNvSpPr/>
          <p:nvPr/>
        </p:nvSpPr>
        <p:spPr>
          <a:xfrm>
            <a:off x="7927269" y="5661248"/>
            <a:ext cx="1042416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1100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b)İkizkenar üçgen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dirty="0"/>
              <a:t>Herhangi iki kenar uzunlukları eşit olan üçgenlere denir.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068960"/>
            <a:ext cx="2952328" cy="23042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7956376" y="5760166"/>
            <a:ext cx="1042416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533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c)Eşkenar üçgen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dirty="0"/>
              <a:t>Üç kenar uzunlukları ve açıları eşit olan üçgenlere denir.</a:t>
            </a:r>
          </a:p>
          <a:p>
            <a:endParaRPr lang="tr-TR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284984"/>
            <a:ext cx="3528392" cy="2520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7956376" y="5719017"/>
            <a:ext cx="1042416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553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i="1" dirty="0"/>
              <a:t>a)Dar açılı üçgen 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i="1" dirty="0"/>
              <a:t>Üç açısının ölçüsü de 90° den küçük olan üçgenlere dar açılı üçgen denir.</a:t>
            </a:r>
            <a:br>
              <a:rPr lang="tr-TR" sz="2800" dirty="0"/>
            </a:b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429000"/>
            <a:ext cx="4464496" cy="24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8071915" y="5787728"/>
            <a:ext cx="1042416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3664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i="1" dirty="0"/>
              <a:t>b) Dik açılı üçgen 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i="1" dirty="0"/>
              <a:t>Bir açısının ölçüsü 90° ye eşit olan üçgenlere denir. </a:t>
            </a:r>
            <a:br>
              <a:rPr lang="tr-TR" sz="2800" dirty="0"/>
            </a:b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1" y="2852936"/>
            <a:ext cx="2384254" cy="2520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7884368" y="5733256"/>
            <a:ext cx="1042416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5541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c) Geniş açılı üçgen 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i="1" dirty="0"/>
              <a:t>Bir açısının ölçüsü 90° den büyük olan üçgenlere denir.</a:t>
            </a: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919412"/>
            <a:ext cx="3960440" cy="25258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Komut Düğmesi: Geri veya Önceki 5">
            <a:hlinkClick r:id="rId3" action="ppaction://hlinksldjump" highlightClick="1"/>
          </p:cNvPr>
          <p:cNvSpPr/>
          <p:nvPr/>
        </p:nvSpPr>
        <p:spPr>
          <a:xfrm>
            <a:off x="7962622" y="5733256"/>
            <a:ext cx="1042416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017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tr-TR" sz="3200" i="1" dirty="0"/>
              <a:t>ÜÇGENİN TEMEL ve YARDIMCI ELEMANLARI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tr-TR" sz="2800" dirty="0">
                <a:hlinkClick r:id="rId2" action="ppaction://hlinksldjump"/>
              </a:rPr>
              <a:t>Yükseklik</a:t>
            </a:r>
            <a:endParaRPr lang="tr-TR" sz="2800" dirty="0"/>
          </a:p>
          <a:p>
            <a:pPr marL="514350" indent="-514350">
              <a:buFont typeface="+mj-lt"/>
              <a:buAutoNum type="arabicPeriod"/>
            </a:pPr>
            <a:r>
              <a:rPr lang="tr-TR" sz="2800" dirty="0">
                <a:hlinkClick r:id="rId3" action="ppaction://hlinksldjump"/>
              </a:rPr>
              <a:t>Açıortay</a:t>
            </a:r>
            <a:endParaRPr lang="tr-TR" sz="2800" dirty="0"/>
          </a:p>
          <a:p>
            <a:pPr marL="514350" indent="-514350">
              <a:buFont typeface="+mj-lt"/>
              <a:buAutoNum type="arabicPeriod"/>
            </a:pPr>
            <a:r>
              <a:rPr lang="tr-TR" sz="2800" dirty="0">
                <a:hlinkClick r:id="rId4" action="ppaction://hlinksldjump"/>
              </a:rPr>
              <a:t>Kenarortay</a:t>
            </a:r>
            <a:endParaRPr lang="tr-TR" sz="2800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Komut Düğmesi: Geri veya Önceki 3">
            <a:hlinkClick r:id="rId5" action="ppaction://hlinksldjump" highlightClick="1"/>
          </p:cNvPr>
          <p:cNvSpPr/>
          <p:nvPr/>
        </p:nvSpPr>
        <p:spPr>
          <a:xfrm>
            <a:off x="7668344" y="6093296"/>
            <a:ext cx="1492843" cy="764704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5278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720080"/>
          </a:xfrm>
        </p:spPr>
        <p:txBody>
          <a:bodyPr>
            <a:normAutofit/>
          </a:bodyPr>
          <a:lstStyle/>
          <a:p>
            <a:r>
              <a:rPr lang="tr-TR" sz="3200" i="1" dirty="0"/>
              <a:t>1. Yükseklik 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>
            <a:normAutofit fontScale="62500" lnSpcReduction="20000"/>
          </a:bodyPr>
          <a:lstStyle/>
          <a:p>
            <a:r>
              <a:rPr lang="tr-TR" sz="4500" i="1" dirty="0"/>
              <a:t>Bir köşeden karşı kenara veya karşı kenarın uzantısına çizilen dik doğru parçasına yükseklik denir.</a:t>
            </a:r>
            <a:endParaRPr lang="tr-TR" sz="4500" dirty="0"/>
          </a:p>
          <a:p>
            <a:endParaRPr lang="tr-TR" sz="4500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sz="3000" i="1" dirty="0"/>
          </a:p>
          <a:p>
            <a:pPr marL="0" indent="0">
              <a:buNone/>
            </a:pPr>
            <a:endParaRPr lang="tr-TR" sz="3000" i="1" dirty="0"/>
          </a:p>
          <a:p>
            <a:pPr marL="0" indent="0">
              <a:buNone/>
            </a:pPr>
            <a:endParaRPr lang="tr-TR" sz="3000" i="1" dirty="0"/>
          </a:p>
          <a:p>
            <a:r>
              <a:rPr lang="tr-TR" sz="4500" i="1" dirty="0"/>
              <a:t>ha : a kenarına ait yükseklik.</a:t>
            </a:r>
            <a:br>
              <a:rPr lang="tr-TR" sz="4500" dirty="0"/>
            </a:br>
            <a:r>
              <a:rPr lang="tr-TR" sz="4500" i="1" dirty="0"/>
              <a:t>hc : c kenarına ait yükseklik</a:t>
            </a:r>
            <a:br>
              <a:rPr lang="tr-TR" sz="4500" dirty="0"/>
            </a:br>
            <a:r>
              <a:rPr lang="tr-TR" sz="4500" i="1" dirty="0"/>
              <a:t>yüksekliklerin kesim noktasına üçgenin Diklik Merkezi denir.</a:t>
            </a:r>
            <a:br>
              <a:rPr lang="tr-TR" sz="4500" dirty="0"/>
            </a:br>
            <a:endParaRPr lang="tr-TR" sz="45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48880"/>
            <a:ext cx="6840760" cy="19442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7812360" y="5805264"/>
            <a:ext cx="1225295" cy="8984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0102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52704"/>
          </a:xfrm>
        </p:spPr>
        <p:txBody>
          <a:bodyPr>
            <a:normAutofit/>
          </a:bodyPr>
          <a:lstStyle/>
          <a:p>
            <a:r>
              <a:rPr lang="tr-TR" sz="3200" i="1" dirty="0"/>
              <a:t>2. Açıortay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567333"/>
            <a:ext cx="8229600" cy="4525963"/>
          </a:xfrm>
        </p:spPr>
        <p:txBody>
          <a:bodyPr/>
          <a:lstStyle/>
          <a:p>
            <a:r>
              <a:rPr lang="tr-TR" sz="2800" dirty="0"/>
              <a:t>Üçgenin bir köşesindeki açıyı iki eş parçaya ayıran ışına o köşenin açıortayı denir.</a:t>
            </a:r>
            <a:br>
              <a:rPr lang="tr-TR" dirty="0"/>
            </a:br>
            <a:r>
              <a:rPr lang="tr-TR" sz="2800" dirty="0"/>
              <a:t>nA : A köşesine ait iç açıortay </a:t>
            </a:r>
            <a:br>
              <a:rPr lang="tr-TR" sz="2800" dirty="0"/>
            </a:br>
            <a:r>
              <a:rPr lang="tr-TR" sz="2800" dirty="0"/>
              <a:t>n'A : A köşesine ait dış açıortay</a:t>
            </a:r>
            <a:br>
              <a:rPr lang="tr-TR" sz="2800" dirty="0"/>
            </a:b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789040"/>
            <a:ext cx="3816424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7884368" y="5949280"/>
            <a:ext cx="1259632" cy="90872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4731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i="1" dirty="0"/>
              <a:t>3. Kenarortay</a:t>
            </a:r>
            <a:br>
              <a:rPr lang="tr-TR" sz="3200" dirty="0"/>
            </a:b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i="1" dirty="0"/>
              <a:t>Üçgenin bir kenarının orta noktasını karşısındaki köşe ile birleştiren doğru parçasına o kenara ait kenarortay denir.</a:t>
            </a:r>
            <a:endParaRPr lang="tr-TR" sz="2800" dirty="0"/>
          </a:p>
          <a:p>
            <a:endParaRPr lang="tr-TR" sz="2800" i="1" dirty="0"/>
          </a:p>
          <a:p>
            <a:endParaRPr lang="tr-TR" sz="2800" i="1" dirty="0"/>
          </a:p>
          <a:p>
            <a:endParaRPr lang="tr-TR" sz="2800" i="1" dirty="0"/>
          </a:p>
          <a:p>
            <a:endParaRPr lang="tr-TR" sz="2800" i="1" dirty="0"/>
          </a:p>
          <a:p>
            <a:r>
              <a:rPr lang="tr-TR" sz="2800" i="1" dirty="0"/>
              <a:t>|AD| = Va , |BE| = Vb olarak ifade edilir.</a:t>
            </a: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27" y="3356992"/>
            <a:ext cx="3240360" cy="20162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8101584" y="5779906"/>
            <a:ext cx="1042416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6451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i="1" dirty="0"/>
              <a:t>ÜÇGENDE AÇI ÖZELLİKLERİ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tr-TR" sz="2800" dirty="0"/>
              <a:t>Üçgende iç açıların ölçüleri toplamı180° dir.</a:t>
            </a:r>
            <a:br>
              <a:rPr lang="tr-TR" sz="2800" dirty="0"/>
            </a:br>
            <a:r>
              <a:rPr lang="tr-TR" sz="2800" dirty="0"/>
              <a:t>[AD // [BC] olduğundan,</a:t>
            </a:r>
            <a:br>
              <a:rPr lang="tr-TR" sz="2800" dirty="0"/>
            </a:br>
            <a:r>
              <a:rPr lang="tr-TR" sz="2800" dirty="0"/>
              <a:t>iç ters ve yöndeş olan açılar bulunur.</a:t>
            </a:r>
            <a:br>
              <a:rPr lang="tr-TR" sz="2800" dirty="0"/>
            </a:br>
            <a:r>
              <a:rPr lang="tr-TR" sz="2800" dirty="0"/>
              <a:t>a + b + c = 180°</a:t>
            </a:r>
            <a:br>
              <a:rPr lang="tr-TR" sz="2800" dirty="0"/>
            </a:br>
            <a:endParaRPr lang="tr-TR" sz="2800" dirty="0"/>
          </a:p>
          <a:p>
            <a:pPr marL="514350" indent="-514350">
              <a:buFont typeface="+mj-lt"/>
              <a:buAutoNum type="arabicPeriod"/>
            </a:pPr>
            <a:endParaRPr lang="tr-TR" sz="2800" dirty="0"/>
          </a:p>
          <a:p>
            <a:pPr marL="514350" indent="-514350">
              <a:buFont typeface="+mj-lt"/>
              <a:buAutoNum type="arabicPeriod"/>
            </a:pPr>
            <a:endParaRPr lang="tr-TR" sz="2800" dirty="0"/>
          </a:p>
          <a:p>
            <a:pPr marL="514350" indent="-514350">
              <a:buFont typeface="+mj-lt"/>
              <a:buAutoNum type="arabicPeriod"/>
            </a:pPr>
            <a:endParaRPr lang="tr-TR" sz="2800" dirty="0"/>
          </a:p>
          <a:p>
            <a:pPr marL="0" indent="0">
              <a:buNone/>
            </a:pPr>
            <a:r>
              <a:rPr lang="tr-TR" sz="2800" dirty="0"/>
              <a:t>           m(A) + m(B) + m(C) = 180°</a:t>
            </a:r>
          </a:p>
          <a:p>
            <a:pPr marL="0" indent="0">
              <a:buNone/>
            </a:pP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645024"/>
            <a:ext cx="3888432" cy="172819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6469182" y="5949280"/>
            <a:ext cx="1343178" cy="881248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Komut Düğmesi: İleri veya Sonraki 5">
            <a:hlinkClick r:id="" action="ppaction://hlinkshowjump?jump=nextslide" highlightClick="1"/>
          </p:cNvPr>
          <p:cNvSpPr/>
          <p:nvPr/>
        </p:nvSpPr>
        <p:spPr>
          <a:xfrm>
            <a:off x="7812360" y="5949280"/>
            <a:ext cx="1331640" cy="88124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7346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7544" y="983565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800" i="1" dirty="0"/>
              <a:t>2. Üçgende dış açıların ölçüleri toplamı360° dir.</a:t>
            </a:r>
          </a:p>
          <a:p>
            <a:pPr marL="0" indent="0">
              <a:buNone/>
            </a:pPr>
            <a:r>
              <a:rPr lang="tr-TR" sz="2800" i="1" dirty="0"/>
              <a:t>        </a:t>
            </a:r>
          </a:p>
          <a:p>
            <a:pPr marL="0" indent="0">
              <a:buNone/>
            </a:pPr>
            <a:r>
              <a:rPr lang="tr-TR" sz="2800" i="1" dirty="0"/>
              <a:t>          a' + b' + c' = 360°</a:t>
            </a:r>
            <a:br>
              <a:rPr lang="tr-TR" sz="2800" dirty="0"/>
            </a:br>
            <a:r>
              <a:rPr lang="tr-TR" sz="2800" dirty="0"/>
              <a:t>          </a:t>
            </a:r>
            <a:r>
              <a:rPr lang="tr-TR" sz="2800" i="1" dirty="0"/>
              <a:t>m(DAF)+m(ABE)+m(BCF)=360°</a:t>
            </a:r>
            <a:endParaRPr lang="tr-TR" sz="2800" dirty="0"/>
          </a:p>
          <a:p>
            <a:pPr marL="0" indent="0">
              <a:buNone/>
            </a:pP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212976"/>
            <a:ext cx="3744416" cy="273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İleri veya Sonraki 4">
            <a:hlinkClick r:id="" action="ppaction://hlinkshowjump?jump=nextslide" highlightClick="1"/>
          </p:cNvPr>
          <p:cNvSpPr/>
          <p:nvPr/>
        </p:nvSpPr>
        <p:spPr>
          <a:xfrm>
            <a:off x="7668344" y="6021287"/>
            <a:ext cx="1475656" cy="83671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197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800" dirty="0"/>
              <a:t>3. Üçgende bir dış açının ölçüsü kendisine komşu olmayan iki iç açının ölçüleri toplamına eşittir.</a:t>
            </a:r>
          </a:p>
          <a:p>
            <a:pPr marL="0" indent="0">
              <a:buNone/>
            </a:pPr>
            <a:r>
              <a:rPr lang="tr-TR" sz="2800" dirty="0"/>
              <a:t>              [AB] // [CE olduğundan</a:t>
            </a:r>
            <a:br>
              <a:rPr lang="tr-TR" sz="2800" dirty="0"/>
            </a:b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r>
              <a:rPr lang="tr-TR" sz="2800" i="1" dirty="0"/>
              <a:t>                        m(ACD)=a+b</a:t>
            </a:r>
            <a:br>
              <a:rPr lang="tr-TR" sz="2800" dirty="0"/>
            </a:b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0928"/>
            <a:ext cx="3384376" cy="20882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7524328" y="6021288"/>
            <a:ext cx="1625918" cy="83671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3662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tr-TR" sz="3200" dirty="0"/>
              <a:t>ÜÇGENDE AÇIORTAYLAR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tr-TR" sz="2800" dirty="0"/>
              <a:t>Üçgende iç açıortaylar bir noktada kesişirler. Bu nokta üçgenin içteğet çemberinin merkezidir.</a:t>
            </a:r>
          </a:p>
          <a:p>
            <a:pPr marL="514350" indent="-514350">
              <a:buAutoNum type="arabicPeriod"/>
            </a:pPr>
            <a:endParaRPr lang="tr-TR" sz="2800" dirty="0"/>
          </a:p>
          <a:p>
            <a:pPr marL="514350" indent="-514350">
              <a:buAutoNum type="arabicPeriod"/>
            </a:pPr>
            <a:endParaRPr lang="tr-TR" sz="2800" dirty="0"/>
          </a:p>
          <a:p>
            <a:pPr marL="514350" indent="-514350">
              <a:buAutoNum type="arabicPeriod"/>
            </a:pPr>
            <a:endParaRPr lang="tr-TR" sz="2800" dirty="0"/>
          </a:p>
          <a:p>
            <a:pPr marL="514350" indent="-514350">
              <a:buAutoNum type="arabicPeriod"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r>
              <a:rPr lang="tr-TR" sz="2800" dirty="0"/>
              <a:t>Açıortayların kesiştiği noktadan kenarlara çizilen dikmelerin uzunlukları eşittir. (Çemberin yarıçapı)</a:t>
            </a:r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09" y="2780928"/>
            <a:ext cx="4392488" cy="223224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6804248" y="6043453"/>
            <a:ext cx="1241288" cy="764704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Komut Düğmesi: İleri veya Sonraki 5">
            <a:hlinkClick r:id="" action="ppaction://hlinkshowjump?jump=nextslide" highlightClick="1"/>
          </p:cNvPr>
          <p:cNvSpPr/>
          <p:nvPr/>
        </p:nvSpPr>
        <p:spPr>
          <a:xfrm>
            <a:off x="8045536" y="6051899"/>
            <a:ext cx="1098464" cy="764704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4414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800" dirty="0"/>
              <a:t>2.</a:t>
            </a:r>
            <a:r>
              <a:rPr lang="tr-TR" sz="2800" i="1" dirty="0"/>
              <a:t> </a:t>
            </a:r>
            <a:r>
              <a:rPr lang="tr-TR" sz="2800" dirty="0"/>
              <a:t>İki iç açıortayın kesişmesiyle oluşan açı; ABC üçgeninde ve BDC üçgeninde iç açılar toplamı yazılırsa;</a:t>
            </a:r>
            <a:r>
              <a:rPr lang="tr-TR" sz="2800" i="1" dirty="0"/>
              <a:t> </a:t>
            </a: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780928"/>
            <a:ext cx="2016224" cy="864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Resim 4" descr="ÜÇgen  - ÜÇgenler - ÜÇgen Konusu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212976"/>
            <a:ext cx="4032448" cy="25202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Komut Düğmesi: İleri veya Sonraki 5">
            <a:hlinkClick r:id="" action="ppaction://hlinkshowjump?jump=nextslide" highlightClick="1"/>
          </p:cNvPr>
          <p:cNvSpPr/>
          <p:nvPr/>
        </p:nvSpPr>
        <p:spPr>
          <a:xfrm>
            <a:off x="7702383" y="5877272"/>
            <a:ext cx="1349005" cy="83671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7622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800" dirty="0"/>
              <a:t>3.İki dış açıortayın kesişmesiyle oluşan açı; ABC üçgeninin dış açılar toplamı ve BDC üçgeninin iç açılar toplamını yazarsak;</a:t>
            </a:r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956" y="2980263"/>
            <a:ext cx="2568979" cy="651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Resim 5" descr="ÜÇgen  - ÜÇgenler - ÜÇgen Konusu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996952"/>
            <a:ext cx="3672408" cy="276997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Komut Düğmesi: İleri veya Sonraki 6">
            <a:hlinkClick r:id="" action="ppaction://hlinkshowjump?jump=nextslide" highlightClick="1"/>
          </p:cNvPr>
          <p:cNvSpPr/>
          <p:nvPr/>
        </p:nvSpPr>
        <p:spPr>
          <a:xfrm>
            <a:off x="7308304" y="5933106"/>
            <a:ext cx="1619672" cy="764704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44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800" dirty="0"/>
              <a:t>4.</a:t>
            </a:r>
            <a:r>
              <a:rPr lang="tr-TR" sz="2800" i="1" dirty="0"/>
              <a:t> </a:t>
            </a:r>
            <a:r>
              <a:rPr lang="tr-TR" sz="2800" dirty="0"/>
              <a:t>Açıortayla yükseklik arasında kalan açı; ABC üçgeninde [AD] A açısına ait açıortay ve [AH] yüksekliktir. Açıortayla yükseklik arasındaki açıya m(HAD) = x dersek;</a:t>
            </a:r>
            <a:br>
              <a:rPr lang="tr-TR" sz="2800" dirty="0"/>
            </a:br>
            <a:endParaRPr lang="tr-TR" sz="2800" dirty="0"/>
          </a:p>
        </p:txBody>
      </p:sp>
      <p:pic>
        <p:nvPicPr>
          <p:cNvPr id="4" name="Resim 3" descr="ÜÇgen  - ÜÇgenler - ÜÇgen Konusu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429000"/>
            <a:ext cx="2188071" cy="936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Resim 4" descr="ÜÇgen  - ÜÇgenler - ÜÇgen Konusu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501008"/>
            <a:ext cx="3083421" cy="206196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Komut Düğmesi: Geri veya Önceki 5">
            <a:hlinkClick r:id="rId4" action="ppaction://hlinksldjump" highlightClick="1"/>
          </p:cNvPr>
          <p:cNvSpPr/>
          <p:nvPr/>
        </p:nvSpPr>
        <p:spPr>
          <a:xfrm>
            <a:off x="7452320" y="5949296"/>
            <a:ext cx="1515644" cy="83671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48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ÜÇGENDE BAĞINTILAR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endParaRPr lang="tr-TR" sz="2800" dirty="0"/>
          </a:p>
          <a:p>
            <a:pPr marL="514350" lvl="0" indent="-514350">
              <a:buFont typeface="+mj-lt"/>
              <a:buAutoNum type="arabicPeriod"/>
            </a:pPr>
            <a:endParaRPr lang="tr-TR" sz="2800" dirty="0"/>
          </a:p>
          <a:p>
            <a:pPr marL="514350" lvl="0" indent="-514350">
              <a:buFont typeface="+mj-lt"/>
              <a:buAutoNum type="arabicPeriod"/>
            </a:pPr>
            <a:r>
              <a:rPr lang="tr-TR" sz="2800" dirty="0">
                <a:hlinkClick r:id="rId2" action="ppaction://hlinksldjump"/>
              </a:rPr>
              <a:t>Pisagor Bağıntısı</a:t>
            </a:r>
            <a:endParaRPr lang="tr-TR" sz="2800" dirty="0"/>
          </a:p>
          <a:p>
            <a:pPr marL="514350" indent="-514350">
              <a:buFont typeface="+mj-lt"/>
              <a:buAutoNum type="arabicPeriod"/>
            </a:pPr>
            <a:r>
              <a:rPr lang="tr-TR" sz="2800" dirty="0" err="1">
                <a:hlinkClick r:id="rId3" action="ppaction://hlinksldjump"/>
              </a:rPr>
              <a:t>Öklit</a:t>
            </a:r>
            <a:r>
              <a:rPr lang="tr-TR" sz="2800" dirty="0">
                <a:hlinkClick r:id="rId3" action="ppaction://hlinksldjump"/>
              </a:rPr>
              <a:t> Bağıntıları</a:t>
            </a:r>
            <a:endParaRPr lang="tr-TR" sz="2800" dirty="0"/>
          </a:p>
        </p:txBody>
      </p:sp>
      <p:sp>
        <p:nvSpPr>
          <p:cNvPr id="4" name="Komut Düğmesi: Geri veya Önceki 3">
            <a:hlinkClick r:id="rId4" action="ppaction://hlinksldjump" highlightClick="1"/>
          </p:cNvPr>
          <p:cNvSpPr/>
          <p:nvPr/>
        </p:nvSpPr>
        <p:spPr>
          <a:xfrm>
            <a:off x="7596336" y="5733256"/>
            <a:ext cx="1330448" cy="8984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123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tr-TR" sz="3200" dirty="0"/>
              <a:t>Pisagor Bağıntısı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dirty="0"/>
              <a:t>Dik üçgende dik kenarların uzunluklarının kareleri toplamı hipotenüsün uzunluğunun karesine eşittir. ABC üçgeninde  m(A) = 90°</a:t>
            </a:r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r>
              <a:rPr lang="tr-TR" dirty="0"/>
              <a:t>                                              </a:t>
            </a:r>
            <a:r>
              <a:rPr lang="tr-TR" sz="2800" dirty="0"/>
              <a:t>a</a:t>
            </a:r>
            <a:r>
              <a:rPr lang="tr-TR" sz="2800" baseline="30000" dirty="0"/>
              <a:t>2</a:t>
            </a:r>
            <a:r>
              <a:rPr lang="tr-TR" sz="2800" dirty="0"/>
              <a:t>=b</a:t>
            </a:r>
            <a:r>
              <a:rPr lang="tr-TR" sz="2800" baseline="30000" dirty="0"/>
              <a:t>2</a:t>
            </a:r>
            <a:r>
              <a:rPr lang="tr-TR" sz="2800" dirty="0"/>
              <a:t>+c</a:t>
            </a:r>
            <a:r>
              <a:rPr lang="tr-TR" sz="2800" baseline="30000" dirty="0"/>
              <a:t>2</a:t>
            </a:r>
            <a:endParaRPr lang="tr-TR" sz="2800" dirty="0"/>
          </a:p>
        </p:txBody>
      </p:sp>
      <p:pic>
        <p:nvPicPr>
          <p:cNvPr id="4" name="Resim 3" descr="http://www.matematikci.org/oss/geometri/4g_dosyalar/geo_3.52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416" y="3429000"/>
            <a:ext cx="2270129" cy="25922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7812360" y="5733256"/>
            <a:ext cx="1331640" cy="104241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3653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 err="1"/>
              <a:t>Öklit</a:t>
            </a:r>
            <a:r>
              <a:rPr lang="tr-TR" sz="3200" dirty="0"/>
              <a:t> Bağıntıları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Dik üçgenlerde hipotenüse ait yüksekliğin verildiği durumlarda benzerlikten kaynaklanan </a:t>
            </a:r>
            <a:r>
              <a:rPr lang="tr-TR" sz="2800" dirty="0" err="1"/>
              <a:t>öklit</a:t>
            </a:r>
            <a:r>
              <a:rPr lang="tr-TR" sz="2800" dirty="0"/>
              <a:t> bağıntıları kullanılır.</a:t>
            </a:r>
          </a:p>
        </p:txBody>
      </p:sp>
      <p:pic>
        <p:nvPicPr>
          <p:cNvPr id="4" name="Resim 3" descr="http://www.matematikci.org/oss/geometri/4g_dosyalar/geo_3.66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427542"/>
            <a:ext cx="3744416" cy="24497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omut Düğmesi: Geri veya Önceki 4">
            <a:hlinkClick r:id="rId3" action="ppaction://hlinksldjump" highlightClick="1"/>
          </p:cNvPr>
          <p:cNvSpPr/>
          <p:nvPr/>
        </p:nvSpPr>
        <p:spPr>
          <a:xfrm>
            <a:off x="6660232" y="5966450"/>
            <a:ext cx="1193775" cy="80924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Komut Düğmesi: İleri veya Sonraki 5">
            <a:hlinkClick r:id="" action="ppaction://hlinkshowjump?jump=nextslide" highlightClick="1"/>
          </p:cNvPr>
          <p:cNvSpPr/>
          <p:nvPr/>
        </p:nvSpPr>
        <p:spPr>
          <a:xfrm>
            <a:off x="7854007" y="5966450"/>
            <a:ext cx="1182490" cy="8092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270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514350" indent="-514350">
              <a:buFont typeface="+mj-lt"/>
              <a:buAutoNum type="arabicPeriod"/>
            </a:pPr>
            <a:endParaRPr lang="tr-TR" sz="2800" dirty="0"/>
          </a:p>
          <a:p>
            <a:pPr marL="514350" indent="-514350">
              <a:buFont typeface="+mj-lt"/>
              <a:buAutoNum type="arabicPeriod"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r>
              <a:rPr lang="tr-TR" sz="2800" dirty="0"/>
              <a:t>1. Yüksekliğin hipotenüste ayırdığı parçaların çarpımı yüksekliğin karesine eşittir.</a:t>
            </a:r>
          </a:p>
          <a:p>
            <a:pPr marL="0" indent="0">
              <a:buNone/>
            </a:pPr>
            <a:r>
              <a:rPr lang="tr-TR" sz="2800" dirty="0"/>
              <a:t>                             h</a:t>
            </a:r>
            <a:r>
              <a:rPr lang="tr-TR" sz="2800" baseline="30000" dirty="0"/>
              <a:t>2</a:t>
            </a:r>
            <a:r>
              <a:rPr lang="tr-TR" sz="2800" dirty="0"/>
              <a:t> = p.k</a:t>
            </a:r>
          </a:p>
          <a:p>
            <a:pPr marL="0" indent="0">
              <a:buNone/>
            </a:pPr>
            <a:r>
              <a:rPr lang="tr-TR" sz="2800" dirty="0"/>
              <a:t>2.</a:t>
            </a:r>
            <a:r>
              <a:rPr lang="tr-TR" sz="2800" b="1" dirty="0"/>
              <a:t> </a:t>
            </a:r>
            <a:r>
              <a:rPr lang="tr-TR" sz="2800" dirty="0"/>
              <a:t>b</a:t>
            </a:r>
            <a:r>
              <a:rPr lang="tr-TR" sz="2800" baseline="30000" dirty="0"/>
              <a:t>2</a:t>
            </a:r>
            <a:r>
              <a:rPr lang="tr-TR" sz="2800" dirty="0"/>
              <a:t> =  k.a   ve  c</a:t>
            </a:r>
            <a:r>
              <a:rPr lang="tr-TR" sz="2800" baseline="30000" dirty="0"/>
              <a:t>2</a:t>
            </a:r>
            <a:r>
              <a:rPr lang="tr-TR" sz="2800" dirty="0"/>
              <a:t>= p.a</a:t>
            </a:r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2800" dirty="0"/>
          </a:p>
        </p:txBody>
      </p:sp>
      <p:pic>
        <p:nvPicPr>
          <p:cNvPr id="4" name="Resim 3" descr="http://www.matematikci.org/oss/geometri/4g_dosyalar/geo_3.66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124744"/>
            <a:ext cx="4320480" cy="24497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Komut Düğmesi: İleri veya Sonraki 5">
            <a:hlinkClick r:id="" action="ppaction://hlinkshowjump?jump=nextslide" highlightClick="1"/>
          </p:cNvPr>
          <p:cNvSpPr/>
          <p:nvPr/>
        </p:nvSpPr>
        <p:spPr>
          <a:xfrm>
            <a:off x="7740352" y="5716104"/>
            <a:ext cx="1330448" cy="104241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459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800" dirty="0"/>
              <a:t>3. ABC üçgeninin alanını iki farklı şekilde yazıp eşitlediğimizde;</a:t>
            </a:r>
          </a:p>
          <a:p>
            <a:pPr marL="0" indent="0">
              <a:buNone/>
            </a:pPr>
            <a:r>
              <a:rPr lang="tr-TR" sz="2800" dirty="0"/>
              <a:t>                           a.h =b.c</a:t>
            </a:r>
          </a:p>
          <a:p>
            <a:r>
              <a:rPr lang="tr-TR" sz="2800" dirty="0"/>
              <a:t>Yukarıda anlatılan </a:t>
            </a:r>
            <a:r>
              <a:rPr lang="tr-TR" sz="2800" dirty="0" err="1"/>
              <a:t>Öklit</a:t>
            </a:r>
            <a:r>
              <a:rPr lang="tr-TR" sz="2800" dirty="0"/>
              <a:t> bağıntıları kullanılarak;</a:t>
            </a:r>
          </a:p>
          <a:p>
            <a:pPr marL="0" indent="0">
              <a:buNone/>
            </a:pPr>
            <a:r>
              <a:rPr lang="tr-TR" sz="2800" dirty="0"/>
              <a:t>    </a:t>
            </a:r>
          </a:p>
          <a:p>
            <a:pPr marL="0" indent="0">
              <a:buNone/>
            </a:pPr>
            <a:r>
              <a:rPr lang="tr-TR" sz="2800" dirty="0"/>
              <a:t>                                            elde edilir.</a:t>
            </a:r>
          </a:p>
        </p:txBody>
      </p:sp>
      <p:pic>
        <p:nvPicPr>
          <p:cNvPr id="4" name="Resim 3" descr="http://www.matematikci.org/oss/geometri/4g_dosyalar/geo_3.67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913984"/>
            <a:ext cx="2160240" cy="73915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Komut Düğmesi: İleri veya Sonraki 6">
            <a:hlinkClick r:id="rId3" action="ppaction://hlinksldjump" highlightClick="1"/>
          </p:cNvPr>
          <p:cNvSpPr/>
          <p:nvPr/>
        </p:nvSpPr>
        <p:spPr>
          <a:xfrm>
            <a:off x="7164288" y="5805263"/>
            <a:ext cx="1690488" cy="86854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119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HAZIRLAYAN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BAYRAM TUNÇ</a:t>
            </a:r>
          </a:p>
          <a:p>
            <a:r>
              <a:rPr lang="tr-TR" sz="2800" dirty="0"/>
              <a:t>110403083</a:t>
            </a:r>
          </a:p>
          <a:p>
            <a:r>
              <a:rPr lang="tr-TR" sz="2800" dirty="0"/>
              <a:t>İLKÖĞRETİM MATEMATİK  ÖĞRETMENLİĞİ</a:t>
            </a:r>
          </a:p>
          <a:p>
            <a:r>
              <a:rPr lang="tr-TR" sz="2800" dirty="0"/>
              <a:t>2/A GÜNDÜZ</a:t>
            </a:r>
          </a:p>
          <a:p>
            <a:endParaRPr lang="tr-TR" sz="2800" dirty="0"/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r>
              <a:rPr lang="tr-TR" sz="2800" dirty="0"/>
              <a:t>    ZAMAN AYIRDIĞINIZ İÇİN TEŞEKKÜRLER </a:t>
            </a:r>
            <a:r>
              <a:rPr lang="tr-TR" sz="2800" dirty="0">
                <a:sym typeface="Wingdings" pitchFamily="2" charset="2"/>
              </a:rPr>
              <a:t></a:t>
            </a:r>
            <a:endParaRPr lang="tr-TR" sz="2800" dirty="0"/>
          </a:p>
          <a:p>
            <a:pPr marL="0" indent="0">
              <a:buNone/>
            </a:pPr>
            <a:endParaRPr lang="tr-TR" sz="2800" dirty="0"/>
          </a:p>
        </p:txBody>
      </p:sp>
      <p:sp>
        <p:nvSpPr>
          <p:cNvPr id="4" name="Komut Düğmesi: Geri veya Önceki 3">
            <a:hlinkClick r:id="" action="ppaction://hlinkshowjump?jump=firstslide" highlightClick="1"/>
          </p:cNvPr>
          <p:cNvSpPr/>
          <p:nvPr/>
        </p:nvSpPr>
        <p:spPr>
          <a:xfrm>
            <a:off x="7308304" y="6093296"/>
            <a:ext cx="1618480" cy="764704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674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kış">
  <a:themeElements>
    <a:clrScheme name="Akış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kış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kış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175</TotalTime>
  <Words>675</Words>
  <Application>Microsoft Office PowerPoint</Application>
  <PresentationFormat>Ekran Gösterisi (4:3)</PresentationFormat>
  <Paragraphs>119</Paragraphs>
  <Slides>29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3" baseType="lpstr">
      <vt:lpstr>Calibri</vt:lpstr>
      <vt:lpstr>Constantia</vt:lpstr>
      <vt:lpstr>Wingdings 2</vt:lpstr>
      <vt:lpstr>Akış</vt:lpstr>
      <vt:lpstr>ÜÇGENLER</vt:lpstr>
      <vt:lpstr>PowerPoint Sunusu</vt:lpstr>
      <vt:lpstr>ÜÇGEN</vt:lpstr>
      <vt:lpstr>ÜÇGENDE İÇ VE DIŞ AÇI</vt:lpstr>
      <vt:lpstr>PowerPoint Sunusu</vt:lpstr>
      <vt:lpstr>ÜÇGEN ÇEŞİTLERİ</vt:lpstr>
      <vt:lpstr>a)Çeşitkenar üçgen</vt:lpstr>
      <vt:lpstr>b)İkizkenar üçgen</vt:lpstr>
      <vt:lpstr>c)Eşkenar üçgen</vt:lpstr>
      <vt:lpstr>a)Dar açılı üçgen </vt:lpstr>
      <vt:lpstr>b) Dik açılı üçgen </vt:lpstr>
      <vt:lpstr>c) Geniş açılı üçgen </vt:lpstr>
      <vt:lpstr>ÜÇGENİN TEMEL ve YARDIMCI ELEMANLARI</vt:lpstr>
      <vt:lpstr>1. Yükseklik </vt:lpstr>
      <vt:lpstr>2. Açıortay</vt:lpstr>
      <vt:lpstr>3. Kenarortay </vt:lpstr>
      <vt:lpstr>ÜÇGENDE AÇI ÖZELLİKLERİ</vt:lpstr>
      <vt:lpstr>PowerPoint Sunusu</vt:lpstr>
      <vt:lpstr>PowerPoint Sunusu</vt:lpstr>
      <vt:lpstr>ÜÇGENDE AÇIORTAYLAR</vt:lpstr>
      <vt:lpstr>PowerPoint Sunusu</vt:lpstr>
      <vt:lpstr>PowerPoint Sunusu</vt:lpstr>
      <vt:lpstr>PowerPoint Sunusu</vt:lpstr>
      <vt:lpstr>ÜÇGENDE BAĞINTILAR</vt:lpstr>
      <vt:lpstr>Pisagor Bağıntısı</vt:lpstr>
      <vt:lpstr>Öklit Bağıntıları</vt:lpstr>
      <vt:lpstr>PowerPoint Sunusu</vt:lpstr>
      <vt:lpstr>PowerPoint Sunusu</vt:lpstr>
      <vt:lpstr>HAZIRLAYAN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ÜÇGENLER</dc:title>
  <dc:creator>pc</dc:creator>
  <cp:lastModifiedBy>Sibel Killi</cp:lastModifiedBy>
  <cp:revision>26</cp:revision>
  <dcterms:created xsi:type="dcterms:W3CDTF">2013-03-13T09:00:29Z</dcterms:created>
  <dcterms:modified xsi:type="dcterms:W3CDTF">2022-04-11T09:28:11Z</dcterms:modified>
</cp:coreProperties>
</file>